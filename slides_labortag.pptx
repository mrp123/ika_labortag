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397" r:id="rId6"/>
    <p:sldId id="451" r:id="rId7"/>
    <p:sldId id="470" r:id="rId8"/>
    <p:sldId id="471" r:id="rId9"/>
    <p:sldId id="475" r:id="rId10"/>
    <p:sldId id="473" r:id="rId11"/>
    <p:sldId id="474" r:id="rId12"/>
    <p:sldId id="472" r:id="rId13"/>
    <p:sldId id="476" r:id="rId14"/>
    <p:sldId id="366" r:id="rId15"/>
    <p:sldId id="269" r:id="rId16"/>
    <p:sldId id="262" r:id="rId17"/>
  </p:sldIdLst>
  <p:sldSz cx="9144000" cy="6858000" type="screen4x3"/>
  <p:notesSz cx="6797675" cy="9928225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ustomer" initials="C" lastIdx="2" clrIdx="0">
    <p:extLst>
      <p:ext uri="{19B8F6BF-5375-455C-9EA6-DF929625EA0E}">
        <p15:presenceInfo xmlns:p15="http://schemas.microsoft.com/office/powerpoint/2012/main" userId="Custom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9B00"/>
    <a:srgbClr val="92D050"/>
    <a:srgbClr val="FFFF00"/>
    <a:srgbClr val="3F3F3E"/>
    <a:srgbClr val="33CC33"/>
    <a:srgbClr val="0049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708" autoAdjust="0"/>
  </p:normalViewPr>
  <p:slideViewPr>
    <p:cSldViewPr>
      <p:cViewPr varScale="1">
        <p:scale>
          <a:sx n="75" d="100"/>
          <a:sy n="75" d="100"/>
        </p:scale>
        <p:origin x="166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F679DD-8568-42C1-BA5A-C4F46C0C88B2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01CEA-E56D-4463-BD82-D2CF11E1CF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42475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1CB7A-0E8C-4667-B60C-D70B537CE47B}" type="datetimeFigureOut">
              <a:rPr lang="de-DE" smtClean="0"/>
              <a:pPr/>
              <a:t>19.05.2026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C3F01-339E-4FB1-9F01-BDD435A428E2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7774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C3F01-339E-4FB1-9F01-BDD435A428E2}" type="slidenum">
              <a:rPr lang="de-DE" smtClean="0"/>
              <a:pPr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C3F01-339E-4FB1-9F01-BDD435A428E2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5816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C3F01-339E-4FB1-9F01-BDD435A428E2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6020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C3F01-339E-4FB1-9F01-BDD435A428E2}" type="slidenum">
              <a:rPr lang="de-DE" smtClean="0"/>
              <a:pPr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9413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2204864"/>
            <a:ext cx="9144000" cy="571504"/>
          </a:xfrm>
        </p:spPr>
        <p:txBody>
          <a:bodyPr>
            <a:noAutofit/>
          </a:bodyPr>
          <a:lstStyle>
            <a:lvl1pPr algn="ctr">
              <a:defRPr sz="3000" b="1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0" y="2633492"/>
            <a:ext cx="9144000" cy="2582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5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AT" dirty="0"/>
              <a:t>Unterüberschrift</a:t>
            </a:r>
            <a:endParaRPr lang="de-DE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AT" dirty="0"/>
              <a:t>ÜBERSCHRIFT IN GROSSBUCHSTABEN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4375" y="1693960"/>
            <a:ext cx="8229600" cy="385765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buFont typeface="Arial" pitchFamily="34" charset="0"/>
              <a:buChar char="•"/>
              <a:defRPr sz="2600"/>
            </a:lvl2pPr>
            <a:lvl4pPr>
              <a:buFont typeface="Arial" pitchFamily="34" charset="0"/>
              <a:buChar char="•"/>
              <a:defRPr/>
            </a:lvl4pPr>
            <a:lvl5pPr>
              <a:buFont typeface="Arial" pitchFamily="34" charset="0"/>
              <a:buChar char="•"/>
              <a:defRPr/>
            </a:lvl5pPr>
          </a:lstStyle>
          <a:p>
            <a:r>
              <a:rPr lang="de-AT" sz="2800" dirty="0">
                <a:latin typeface="Arial" pitchFamily="34" charset="0"/>
                <a:cs typeface="Arial" pitchFamily="34" charset="0"/>
              </a:rPr>
              <a:t>Erste Ebene</a:t>
            </a:r>
          </a:p>
          <a:p>
            <a:pPr lvl="1"/>
            <a:r>
              <a:rPr lang="de-AT" sz="2600" dirty="0">
                <a:latin typeface="Arial" pitchFamily="34" charset="0"/>
                <a:cs typeface="Arial" pitchFamily="34" charset="0"/>
              </a:rPr>
              <a:t>Zweite Ebene</a:t>
            </a:r>
          </a:p>
          <a:p>
            <a:pPr lvl="2"/>
            <a:r>
              <a:rPr lang="de-AT" dirty="0">
                <a:latin typeface="Arial" pitchFamily="34" charset="0"/>
                <a:cs typeface="Arial" pitchFamily="34" charset="0"/>
              </a:rPr>
              <a:t>Dritte Ebene</a:t>
            </a:r>
          </a:p>
          <a:p>
            <a:pPr lvl="3">
              <a:buFont typeface="Arial" pitchFamily="34" charset="0"/>
              <a:buChar char="•"/>
            </a:pPr>
            <a:r>
              <a:rPr lang="de-AT" dirty="0">
                <a:latin typeface="Arial" pitchFamily="34" charset="0"/>
                <a:cs typeface="Arial" pitchFamily="34" charset="0"/>
              </a:rPr>
              <a:t>Vierte Ebene</a:t>
            </a:r>
          </a:p>
          <a:p>
            <a:pPr lvl="4">
              <a:buFont typeface="Arial" pitchFamily="34" charset="0"/>
              <a:buChar char="•"/>
            </a:pPr>
            <a:r>
              <a:rPr lang="de-AT" dirty="0">
                <a:latin typeface="Arial" pitchFamily="34" charset="0"/>
                <a:cs typeface="Arial" pitchFamily="34" charset="0"/>
              </a:rPr>
              <a:t>Fünfte Ebene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ctrTitle" hasCustomPrompt="1"/>
          </p:nvPr>
        </p:nvSpPr>
        <p:spPr>
          <a:xfrm>
            <a:off x="0" y="2886184"/>
            <a:ext cx="9144000" cy="571504"/>
          </a:xfrm>
        </p:spPr>
        <p:txBody>
          <a:bodyPr>
            <a:noAutofit/>
          </a:bodyPr>
          <a:lstStyle>
            <a:lvl1pPr algn="ctr">
              <a:defRPr sz="3000" b="1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e-AT" dirty="0"/>
              <a:t>ABSCHNITTSTITEL</a:t>
            </a:r>
            <a:endParaRPr lang="de-DE" dirty="0"/>
          </a:p>
        </p:txBody>
      </p:sp>
      <p:sp>
        <p:nvSpPr>
          <p:cNvPr id="10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0" y="3314812"/>
            <a:ext cx="9144000" cy="2582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5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AT" dirty="0"/>
              <a:t>Unterüberschrift</a:t>
            </a:r>
            <a:endParaRPr lang="de-D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AT" dirty="0"/>
              <a:t>ÜBERSCHRIFT IN GROSSBUCHSTABEN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57200" y="1628800"/>
            <a:ext cx="4038600" cy="385765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buFont typeface="Arial" pitchFamily="34" charset="0"/>
              <a:buChar char="•"/>
              <a:defRPr sz="2400"/>
            </a:lvl2pPr>
            <a:lvl3pPr>
              <a:defRPr sz="2000"/>
            </a:lvl3pPr>
            <a:lvl4pPr>
              <a:buFont typeface="Arial" pitchFamily="34" charset="0"/>
              <a:buChar char="•"/>
              <a:defRPr sz="1800"/>
            </a:lvl4pPr>
            <a:lvl5pPr>
              <a:buFont typeface="Arial" pitchFamily="34" charset="0"/>
              <a:buChar char="•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de-AT" sz="2800" dirty="0">
                <a:latin typeface="Arial" pitchFamily="34" charset="0"/>
                <a:cs typeface="Arial" pitchFamily="34" charset="0"/>
              </a:rPr>
              <a:t>Erste Ebene</a:t>
            </a:r>
            <a:endParaRPr lang="de-DE" sz="2800" dirty="0">
              <a:latin typeface="Arial" pitchFamily="34" charset="0"/>
              <a:cs typeface="Arial" pitchFamily="34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de-AT" sz="2600" dirty="0">
                <a:latin typeface="Arial" pitchFamily="34" charset="0"/>
                <a:cs typeface="Arial" pitchFamily="34" charset="0"/>
              </a:rPr>
              <a:t> Zweite Ebene</a:t>
            </a:r>
          </a:p>
          <a:p>
            <a:pPr lvl="2"/>
            <a:r>
              <a:rPr lang="de-AT" dirty="0">
                <a:latin typeface="Arial" pitchFamily="34" charset="0"/>
                <a:cs typeface="Arial" pitchFamily="34" charset="0"/>
              </a:rPr>
              <a:t>Dritte Ebene</a:t>
            </a:r>
          </a:p>
          <a:p>
            <a:pPr lvl="3">
              <a:buFont typeface="Arial" pitchFamily="34" charset="0"/>
              <a:buChar char="•"/>
            </a:pPr>
            <a:r>
              <a:rPr lang="de-AT" dirty="0">
                <a:latin typeface="Arial" pitchFamily="34" charset="0"/>
                <a:cs typeface="Arial" pitchFamily="34" charset="0"/>
              </a:rPr>
              <a:t>Vierte Ebene</a:t>
            </a:r>
          </a:p>
          <a:p>
            <a:pPr lvl="4">
              <a:buFont typeface="Arial" pitchFamily="34" charset="0"/>
              <a:buChar char="•"/>
            </a:pPr>
            <a:r>
              <a:rPr lang="de-AT" dirty="0">
                <a:latin typeface="Arial" pitchFamily="34" charset="0"/>
                <a:cs typeface="Arial" pitchFamily="34" charset="0"/>
              </a:rPr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648200" y="1628800"/>
            <a:ext cx="4038600" cy="385765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buFont typeface="Arial" pitchFamily="34" charset="0"/>
              <a:buChar char="•"/>
              <a:defRPr sz="2400"/>
            </a:lvl2pPr>
            <a:lvl3pPr>
              <a:defRPr sz="2000"/>
            </a:lvl3pPr>
            <a:lvl4pPr>
              <a:buFont typeface="Arial" pitchFamily="34" charset="0"/>
              <a:buChar char="•"/>
              <a:defRPr sz="1800"/>
            </a:lvl4pPr>
            <a:lvl5pPr>
              <a:buFont typeface="Arial" pitchFamily="34" charset="0"/>
              <a:buChar char="•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de-AT" sz="2800" dirty="0">
                <a:latin typeface="Arial" pitchFamily="34" charset="0"/>
                <a:cs typeface="Arial" pitchFamily="34" charset="0"/>
              </a:rPr>
              <a:t>Erste Ebene</a:t>
            </a:r>
            <a:endParaRPr lang="de-DE" sz="2800" dirty="0">
              <a:latin typeface="Arial" pitchFamily="34" charset="0"/>
              <a:cs typeface="Arial" pitchFamily="34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de-AT" sz="2600" dirty="0">
                <a:latin typeface="Arial" pitchFamily="34" charset="0"/>
                <a:cs typeface="Arial" pitchFamily="34" charset="0"/>
              </a:rPr>
              <a:t> Zweite Ebene</a:t>
            </a:r>
          </a:p>
          <a:p>
            <a:pPr lvl="2"/>
            <a:r>
              <a:rPr lang="de-AT" dirty="0">
                <a:latin typeface="Arial" pitchFamily="34" charset="0"/>
                <a:cs typeface="Arial" pitchFamily="34" charset="0"/>
              </a:rPr>
              <a:t>Dritte Ebene</a:t>
            </a:r>
          </a:p>
          <a:p>
            <a:pPr lvl="3">
              <a:buFont typeface="Arial" pitchFamily="34" charset="0"/>
              <a:buChar char="•"/>
            </a:pPr>
            <a:r>
              <a:rPr lang="de-AT" dirty="0">
                <a:latin typeface="Arial" pitchFamily="34" charset="0"/>
                <a:cs typeface="Arial" pitchFamily="34" charset="0"/>
              </a:rPr>
              <a:t>Vierte Ebene</a:t>
            </a:r>
          </a:p>
          <a:p>
            <a:pPr lvl="4">
              <a:buFont typeface="Arial" pitchFamily="34" charset="0"/>
              <a:buChar char="•"/>
            </a:pPr>
            <a:r>
              <a:rPr lang="de-AT" dirty="0">
                <a:latin typeface="Arial" pitchFamily="34" charset="0"/>
                <a:cs typeface="Arial" pitchFamily="34" charset="0"/>
              </a:rPr>
              <a:t>Fünfte Ebene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AT" dirty="0"/>
              <a:t>ÜBERSCHRIFT IN GROSSBUCHSTABEN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457200" y="1628800"/>
            <a:ext cx="4040188" cy="63976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lang="de-DE" sz="2000" b="1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de-AT" dirty="0"/>
              <a:t>Unterüberschrift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57200" y="2343179"/>
            <a:ext cx="4040188" cy="3054353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buFont typeface="Arial" pitchFamily="34" charset="0"/>
              <a:buChar char="•"/>
              <a:defRPr sz="2000"/>
            </a:lvl2pPr>
            <a:lvl3pPr>
              <a:defRPr sz="1800"/>
            </a:lvl3pPr>
            <a:lvl4pPr>
              <a:buFont typeface="Arial" pitchFamily="34" charset="0"/>
              <a:buChar char="•"/>
              <a:defRPr sz="1600"/>
            </a:lvl4pPr>
            <a:lvl5pPr>
              <a:buFont typeface="Arial" pitchFamily="34" charset="0"/>
              <a:buChar char="•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de-AT" sz="2800" dirty="0">
                <a:latin typeface="Arial" pitchFamily="34" charset="0"/>
                <a:cs typeface="Arial" pitchFamily="34" charset="0"/>
              </a:rPr>
              <a:t>Erste Ebene</a:t>
            </a:r>
            <a:endParaRPr lang="de-DE" sz="2800" dirty="0">
              <a:latin typeface="Arial" pitchFamily="34" charset="0"/>
              <a:cs typeface="Arial" pitchFamily="34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de-AT" sz="2600" dirty="0">
                <a:latin typeface="Arial" pitchFamily="34" charset="0"/>
                <a:cs typeface="Arial" pitchFamily="34" charset="0"/>
              </a:rPr>
              <a:t> Zweite Ebene</a:t>
            </a:r>
          </a:p>
          <a:p>
            <a:pPr lvl="2"/>
            <a:r>
              <a:rPr lang="de-AT" dirty="0">
                <a:latin typeface="Arial" pitchFamily="34" charset="0"/>
                <a:cs typeface="Arial" pitchFamily="34" charset="0"/>
              </a:rPr>
              <a:t>Dritte Ebene</a:t>
            </a:r>
          </a:p>
          <a:p>
            <a:pPr lvl="3">
              <a:buFont typeface="Arial" pitchFamily="34" charset="0"/>
              <a:buChar char="•"/>
            </a:pPr>
            <a:r>
              <a:rPr lang="de-AT" dirty="0">
                <a:latin typeface="Arial" pitchFamily="34" charset="0"/>
                <a:cs typeface="Arial" pitchFamily="34" charset="0"/>
              </a:rPr>
              <a:t>Vierte Ebene</a:t>
            </a:r>
          </a:p>
          <a:p>
            <a:pPr lvl="4">
              <a:buFont typeface="Arial" pitchFamily="34" charset="0"/>
              <a:buChar char="•"/>
            </a:pPr>
            <a:r>
              <a:rPr lang="de-AT" dirty="0">
                <a:latin typeface="Arial" pitchFamily="34" charset="0"/>
                <a:cs typeface="Arial" pitchFamily="34" charset="0"/>
              </a:rPr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628800"/>
            <a:ext cx="4041775" cy="63976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lang="de-DE" sz="2000" b="1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dirty="0"/>
              <a:t>Unterüberschrift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>
          <a:xfrm>
            <a:off x="4645025" y="2343179"/>
            <a:ext cx="4041775" cy="305435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buFont typeface="Arial" pitchFamily="34" charset="0"/>
              <a:buChar char="•"/>
              <a:defRPr sz="2000"/>
            </a:lvl2pPr>
            <a:lvl3pPr>
              <a:defRPr sz="1800"/>
            </a:lvl3pPr>
            <a:lvl4pPr>
              <a:buFont typeface="Arial" pitchFamily="34" charset="0"/>
              <a:buChar char="•"/>
              <a:defRPr sz="1600"/>
            </a:lvl4pPr>
            <a:lvl5pPr>
              <a:buFont typeface="Arial" pitchFamily="34" charset="0"/>
              <a:buChar char="•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de-AT" sz="2800" dirty="0">
                <a:latin typeface="Arial" pitchFamily="34" charset="0"/>
                <a:cs typeface="Arial" pitchFamily="34" charset="0"/>
              </a:rPr>
              <a:t>Erste Ebene</a:t>
            </a:r>
            <a:endParaRPr lang="de-DE" sz="2800" dirty="0">
              <a:latin typeface="Arial" pitchFamily="34" charset="0"/>
              <a:cs typeface="Arial" pitchFamily="34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de-AT" sz="2600" dirty="0">
                <a:latin typeface="Arial" pitchFamily="34" charset="0"/>
                <a:cs typeface="Arial" pitchFamily="34" charset="0"/>
              </a:rPr>
              <a:t> Zweite Ebene</a:t>
            </a:r>
          </a:p>
          <a:p>
            <a:pPr lvl="2"/>
            <a:r>
              <a:rPr lang="de-AT" dirty="0">
                <a:latin typeface="Arial" pitchFamily="34" charset="0"/>
                <a:cs typeface="Arial" pitchFamily="34" charset="0"/>
              </a:rPr>
              <a:t>Dritte Ebene</a:t>
            </a:r>
          </a:p>
          <a:p>
            <a:pPr lvl="3">
              <a:buFont typeface="Arial" pitchFamily="34" charset="0"/>
              <a:buChar char="•"/>
            </a:pPr>
            <a:r>
              <a:rPr lang="de-AT" dirty="0">
                <a:latin typeface="Arial" pitchFamily="34" charset="0"/>
                <a:cs typeface="Arial" pitchFamily="34" charset="0"/>
              </a:rPr>
              <a:t>Vierte Ebene</a:t>
            </a:r>
          </a:p>
          <a:p>
            <a:pPr lvl="4">
              <a:buFont typeface="Arial" pitchFamily="34" charset="0"/>
              <a:buChar char="•"/>
            </a:pPr>
            <a:r>
              <a:rPr lang="de-AT" dirty="0">
                <a:latin typeface="Arial" pitchFamily="34" charset="0"/>
                <a:cs typeface="Arial" pitchFamily="34" charset="0"/>
              </a:rPr>
              <a:t>Fünfte Ebene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AT" dirty="0"/>
              <a:t>ÜBERSCHRIFT IN GROSSBUCHSTABEN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zte 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 userDrawn="1"/>
        </p:nvSpPr>
        <p:spPr>
          <a:xfrm>
            <a:off x="0" y="3744034"/>
            <a:ext cx="91440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25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VIELEN DANK FÜR IHRE AUFMERKSAMKEIT!</a:t>
            </a:r>
            <a:endParaRPr lang="de-DE" sz="25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gif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CI_C_Umriss_grau"/>
          <p:cNvPicPr>
            <a:picLocks noChangeAspect="1" noChangeArrowheads="1"/>
          </p:cNvPicPr>
          <p:nvPr userDrawn="1"/>
        </p:nvPicPr>
        <p:blipFill>
          <a:blip r:embed="rId10" cstate="print">
            <a:lum bright="20000"/>
          </a:blip>
          <a:srcRect t="20722" r="19983"/>
          <a:stretch>
            <a:fillRect/>
          </a:stretch>
        </p:blipFill>
        <p:spPr bwMode="auto">
          <a:xfrm>
            <a:off x="5826050" y="0"/>
            <a:ext cx="3317950" cy="3410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hteck 11"/>
          <p:cNvSpPr/>
          <p:nvPr userDrawn="1"/>
        </p:nvSpPr>
        <p:spPr>
          <a:xfrm>
            <a:off x="0" y="6303987"/>
            <a:ext cx="9144000" cy="548680"/>
          </a:xfrm>
          <a:prstGeom prst="rect">
            <a:avLst/>
          </a:prstGeom>
          <a:solidFill>
            <a:srgbClr val="004983"/>
          </a:solidFill>
          <a:ln>
            <a:solidFill>
              <a:srgbClr val="0049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cap="none" spc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58204" cy="5714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AT" dirty="0"/>
              <a:t>ÜBERSCHRIFT IN GROSSBUCHSTABEN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64375" y="1693960"/>
            <a:ext cx="8229600" cy="3857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de-AT" sz="2800" dirty="0">
                <a:latin typeface="Arial" pitchFamily="34" charset="0"/>
                <a:cs typeface="Arial" pitchFamily="34" charset="0"/>
              </a:rPr>
              <a:t>Erste Ebene</a:t>
            </a:r>
          </a:p>
          <a:p>
            <a:pPr lvl="1"/>
            <a:r>
              <a:rPr lang="de-AT" dirty="0">
                <a:latin typeface="Arial" pitchFamily="34" charset="0"/>
                <a:cs typeface="Arial" pitchFamily="34" charset="0"/>
              </a:rPr>
              <a:t>Zweite Ebene</a:t>
            </a:r>
          </a:p>
          <a:p>
            <a:pPr lvl="2"/>
            <a:r>
              <a:rPr lang="de-AT" dirty="0">
                <a:latin typeface="Arial" pitchFamily="34" charset="0"/>
                <a:cs typeface="Arial" pitchFamily="34" charset="0"/>
              </a:rPr>
              <a:t>Dritte Ebene</a:t>
            </a:r>
          </a:p>
          <a:p>
            <a:pPr lvl="3"/>
            <a:r>
              <a:rPr lang="de-AT" dirty="0">
                <a:latin typeface="Arial" pitchFamily="34" charset="0"/>
                <a:cs typeface="Arial" pitchFamily="34" charset="0"/>
              </a:rPr>
              <a:t>Vierte Ebene</a:t>
            </a:r>
          </a:p>
          <a:p>
            <a:pPr lvl="4"/>
            <a:r>
              <a:rPr lang="de-AT" dirty="0">
                <a:latin typeface="Arial" pitchFamily="34" charset="0"/>
                <a:cs typeface="Arial" pitchFamily="34" charset="0"/>
              </a:rPr>
              <a:t>Fünfte Ebene</a:t>
            </a:r>
          </a:p>
        </p:txBody>
      </p:sp>
      <p:pic>
        <p:nvPicPr>
          <p:cNvPr id="11" name="Grafik 10" descr="MCI_4C_NEG.gif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458019" y="6372912"/>
            <a:ext cx="829326" cy="402364"/>
          </a:xfrm>
          <a:prstGeom prst="rect">
            <a:avLst/>
          </a:prstGeom>
        </p:spPr>
      </p:pic>
      <p:sp>
        <p:nvSpPr>
          <p:cNvPr id="13" name="Foliennummernplatzhalter 4"/>
          <p:cNvSpPr txBox="1">
            <a:spLocks/>
          </p:cNvSpPr>
          <p:nvPr userDrawn="1"/>
        </p:nvSpPr>
        <p:spPr>
          <a:xfrm>
            <a:off x="8292033" y="6404570"/>
            <a:ext cx="500066" cy="287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35BED9-C784-4276-B276-C5C35A8F7997}" type="slidenum">
              <a:rPr kumimoji="0" lang="de-DE" sz="1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0" name="Textfeld 19"/>
          <p:cNvSpPr txBox="1"/>
          <p:nvPr userDrawn="1"/>
        </p:nvSpPr>
        <p:spPr>
          <a:xfrm>
            <a:off x="-17462" y="6423139"/>
            <a:ext cx="91614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1000" dirty="0">
                <a:solidFill>
                  <a:schemeClr val="bg1"/>
                </a:solidFill>
              </a:rPr>
              <a:t>Matthias Panny </a:t>
            </a:r>
            <a:r>
              <a:rPr lang="de-AT" sz="1000" dirty="0" err="1">
                <a:solidFill>
                  <a:schemeClr val="bg1"/>
                </a:solidFill>
              </a:rPr>
              <a:t>MSc</a:t>
            </a:r>
            <a:r>
              <a:rPr lang="de-AT" sz="1000" dirty="0">
                <a:solidFill>
                  <a:schemeClr val="bg1"/>
                </a:solidFill>
              </a:rPr>
              <a:t>. – matthias.panny@mci.edu</a:t>
            </a:r>
            <a:endParaRPr lang="de-DE" sz="1000" dirty="0">
              <a:solidFill>
                <a:schemeClr val="bg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C52FB05-76E7-4D7C-A754-293EE5061F7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r="64679"/>
          <a:stretch/>
        </p:blipFill>
        <p:spPr>
          <a:xfrm>
            <a:off x="1475656" y="6372912"/>
            <a:ext cx="829326" cy="3419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spcBef>
          <a:spcPct val="0"/>
        </a:spcBef>
        <a:buNone/>
        <a:defRPr sz="2800" b="1" kern="1200" baseline="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ktronik-kompendium.de/sites/slt/0210141.htm" TargetMode="External"/><Relationship Id="rId2" Type="http://schemas.openxmlformats.org/officeDocument/2006/relationships/hyperlink" Target="https://www.professorglasmachers.de/proportionales-verhalten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REGELUNGSTECHNIK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0" y="2735234"/>
            <a:ext cx="9144000" cy="939524"/>
          </a:xfrm>
        </p:spPr>
        <p:txBody>
          <a:bodyPr>
            <a:noAutofit/>
          </a:bodyPr>
          <a:lstStyle/>
          <a:p>
            <a:r>
              <a:rPr lang="de-DE" sz="2400" dirty="0"/>
              <a:t>IKA </a:t>
            </a:r>
            <a:r>
              <a:rPr lang="de-DE" sz="2400" dirty="0" err="1"/>
              <a:t>Reutte</a:t>
            </a:r>
            <a:r>
              <a:rPr lang="de-DE" sz="2400" dirty="0"/>
              <a:t> – Labor Tag</a:t>
            </a:r>
          </a:p>
          <a:p>
            <a:r>
              <a:rPr lang="de-DE" sz="2400" dirty="0"/>
              <a:t>19.05.2026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1693960"/>
            <a:ext cx="8500113" cy="4471344"/>
          </a:xfrm>
        </p:spPr>
        <p:txBody>
          <a:bodyPr>
            <a:normAutofit/>
          </a:bodyPr>
          <a:lstStyle/>
          <a:p>
            <a:r>
              <a:rPr lang="de-AT" sz="2400" dirty="0">
                <a:latin typeface="Arial" pitchFamily="34" charset="0"/>
                <a:cs typeface="Arial" pitchFamily="34" charset="0"/>
              </a:rPr>
              <a:t>Temperaturregler für „Teaching Factory“:</a:t>
            </a:r>
          </a:p>
          <a:p>
            <a:pPr lvl="1"/>
            <a:r>
              <a:rPr lang="de-DE" sz="2400" dirty="0">
                <a:latin typeface="Arial" pitchFamily="34" charset="0"/>
                <a:cs typeface="Arial" pitchFamily="34" charset="0"/>
              </a:rPr>
              <a:t>Analyse des Prozesses</a:t>
            </a:r>
          </a:p>
          <a:p>
            <a:pPr lvl="1"/>
            <a:r>
              <a:rPr lang="de-DE" sz="2400" dirty="0">
                <a:latin typeface="Arial" pitchFamily="34" charset="0"/>
                <a:cs typeface="Arial" pitchFamily="34" charset="0"/>
              </a:rPr>
              <a:t>Erstellen eines ersten Block-Diagramms</a:t>
            </a:r>
          </a:p>
          <a:p>
            <a:pPr lvl="1"/>
            <a:endParaRPr lang="de-DE" sz="2400" dirty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de-DE" sz="2400" dirty="0">
                <a:latin typeface="Arial" pitchFamily="34" charset="0"/>
                <a:cs typeface="Arial" pitchFamily="34" charset="0"/>
              </a:rPr>
              <a:t>Systemidentifikation</a:t>
            </a:r>
          </a:p>
          <a:p>
            <a:pPr lvl="1"/>
            <a:r>
              <a:rPr lang="de-DE" sz="2400" dirty="0" err="1">
                <a:latin typeface="Arial" pitchFamily="34" charset="0"/>
                <a:cs typeface="Arial" pitchFamily="34" charset="0"/>
              </a:rPr>
              <a:t>Reglerauslegung</a:t>
            </a:r>
            <a:endParaRPr lang="de-DE" sz="2400" dirty="0">
              <a:latin typeface="Arial" pitchFamily="34" charset="0"/>
              <a:cs typeface="Arial" pitchFamily="34" charset="0"/>
            </a:endParaRPr>
          </a:p>
          <a:p>
            <a:pPr lvl="1"/>
            <a:endParaRPr lang="de-DE" sz="2400" dirty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de-DE" sz="2400" dirty="0">
                <a:latin typeface="Arial" pitchFamily="34" charset="0"/>
                <a:cs typeface="Arial" pitchFamily="34" charset="0"/>
              </a:rPr>
              <a:t>Implementierung in der SPS</a:t>
            </a:r>
          </a:p>
          <a:p>
            <a:pPr lvl="1"/>
            <a:r>
              <a:rPr lang="de-DE" sz="2400" dirty="0">
                <a:latin typeface="Arial" pitchFamily="34" charset="0"/>
                <a:cs typeface="Arial" pitchFamily="34" charset="0"/>
              </a:rPr>
              <a:t>Validierung auf der echten Hardware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3C0353F-8CF4-41CE-BA3C-63F3A6D16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36712"/>
            <a:ext cx="8258204" cy="571496"/>
          </a:xfrm>
        </p:spPr>
        <p:txBody>
          <a:bodyPr>
            <a:normAutofit/>
          </a:bodyPr>
          <a:lstStyle/>
          <a:p>
            <a:r>
              <a:rPr lang="de-AT" dirty="0"/>
              <a:t>WAS HABEN WIR VOR?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96615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ERSTES BLOCK-DIAGRAMM</a:t>
            </a:r>
            <a:endParaRPr lang="de-DE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2946CE4-FD50-49D3-B229-B675FB42E7C8}"/>
              </a:ext>
            </a:extLst>
          </p:cNvPr>
          <p:cNvSpPr/>
          <p:nvPr/>
        </p:nvSpPr>
        <p:spPr>
          <a:xfrm>
            <a:off x="2411760" y="3068960"/>
            <a:ext cx="1728878" cy="865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3E4F436-EB95-44B9-8A62-065810A6517B}"/>
              </a:ext>
            </a:extLst>
          </p:cNvPr>
          <p:cNvSpPr txBox="1"/>
          <p:nvPr/>
        </p:nvSpPr>
        <p:spPr>
          <a:xfrm>
            <a:off x="2420713" y="3176682"/>
            <a:ext cx="17288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SPS Ausgangs-</a:t>
            </a:r>
          </a:p>
          <a:p>
            <a:pPr algn="ctr"/>
            <a:r>
              <a:rPr lang="de-DE" sz="1600" dirty="0"/>
              <a:t>klemme</a:t>
            </a:r>
            <a:endParaRPr lang="de-AT" sz="160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1DD8BF09-ACC2-4D24-B38B-5D96858BEE27}"/>
              </a:ext>
            </a:extLst>
          </p:cNvPr>
          <p:cNvCxnSpPr>
            <a:cxnSpLocks/>
            <a:stCxn id="14" idx="3"/>
            <a:endCxn id="21" idx="1"/>
          </p:cNvCxnSpPr>
          <p:nvPr/>
        </p:nvCxnSpPr>
        <p:spPr>
          <a:xfrm>
            <a:off x="4140638" y="3501570"/>
            <a:ext cx="11734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CDC97F9D-B798-4A42-BBA8-0989DB9557D5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1874431" y="3501570"/>
            <a:ext cx="53732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42D921D1-8864-4B94-8AFA-D4AE2C17760E}"/>
              </a:ext>
            </a:extLst>
          </p:cNvPr>
          <p:cNvSpPr txBox="1"/>
          <p:nvPr/>
        </p:nvSpPr>
        <p:spPr>
          <a:xfrm>
            <a:off x="6431527" y="2492442"/>
            <a:ext cx="1166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„Störung“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2946CE4-FD50-49D3-B229-B675FB42E7C8}"/>
              </a:ext>
            </a:extLst>
          </p:cNvPr>
          <p:cNvSpPr/>
          <p:nvPr/>
        </p:nvSpPr>
        <p:spPr>
          <a:xfrm>
            <a:off x="5314137" y="3068960"/>
            <a:ext cx="1346095" cy="865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3E4F436-EB95-44B9-8A62-065810A6517B}"/>
              </a:ext>
            </a:extLst>
          </p:cNvPr>
          <p:cNvSpPr txBox="1"/>
          <p:nvPr/>
        </p:nvSpPr>
        <p:spPr>
          <a:xfrm>
            <a:off x="5290437" y="3100959"/>
            <a:ext cx="1369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Heizelement &amp; thermisch Masse</a:t>
            </a:r>
            <a:endParaRPr lang="de-AT" sz="1600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2946CE4-FD50-49D3-B229-B675FB42E7C8}"/>
              </a:ext>
            </a:extLst>
          </p:cNvPr>
          <p:cNvSpPr/>
          <p:nvPr/>
        </p:nvSpPr>
        <p:spPr>
          <a:xfrm>
            <a:off x="6927649" y="1946594"/>
            <a:ext cx="1246193" cy="57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53E4F436-EB95-44B9-8A62-065810A6517B}"/>
              </a:ext>
            </a:extLst>
          </p:cNvPr>
          <p:cNvSpPr txBox="1"/>
          <p:nvPr/>
        </p:nvSpPr>
        <p:spPr>
          <a:xfrm>
            <a:off x="6914934" y="1932119"/>
            <a:ext cx="1333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Ventilatoren,</a:t>
            </a:r>
          </a:p>
          <a:p>
            <a:pPr algn="ctr"/>
            <a:r>
              <a:rPr lang="de-DE" sz="1600" dirty="0"/>
              <a:t>etc.</a:t>
            </a:r>
            <a:endParaRPr lang="de-AT" sz="1600" dirty="0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5756A245-CCDD-4449-BD05-0EDFC5C568F8}"/>
              </a:ext>
            </a:extLst>
          </p:cNvPr>
          <p:cNvSpPr/>
          <p:nvPr/>
        </p:nvSpPr>
        <p:spPr>
          <a:xfrm>
            <a:off x="7367956" y="3301515"/>
            <a:ext cx="365579" cy="40011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42" name="Gerade Verbindung mit Pfeil 41"/>
          <p:cNvCxnSpPr>
            <a:stCxn id="26" idx="2"/>
            <a:endCxn id="31" idx="0"/>
          </p:cNvCxnSpPr>
          <p:nvPr/>
        </p:nvCxnSpPr>
        <p:spPr>
          <a:xfrm>
            <a:off x="7550746" y="2517810"/>
            <a:ext cx="0" cy="78370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1DD8BF09-ACC2-4D24-B38B-5D96858BEE27}"/>
              </a:ext>
            </a:extLst>
          </p:cNvPr>
          <p:cNvCxnSpPr>
            <a:cxnSpLocks/>
            <a:stCxn id="21" idx="3"/>
            <a:endCxn id="31" idx="2"/>
          </p:cNvCxnSpPr>
          <p:nvPr/>
        </p:nvCxnSpPr>
        <p:spPr>
          <a:xfrm>
            <a:off x="6660232" y="3501570"/>
            <a:ext cx="70772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feld 46">
            <a:extLst>
              <a:ext uri="{FF2B5EF4-FFF2-40B4-BE49-F238E27FC236}">
                <a16:creationId xmlns:a16="http://schemas.microsoft.com/office/drawing/2014/main" id="{42D921D1-8864-4B94-8AFA-D4AE2C17760E}"/>
              </a:ext>
            </a:extLst>
          </p:cNvPr>
          <p:cNvSpPr txBox="1"/>
          <p:nvPr/>
        </p:nvSpPr>
        <p:spPr>
          <a:xfrm>
            <a:off x="7267760" y="2949405"/>
            <a:ext cx="313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42D921D1-8864-4B94-8AFA-D4AE2C17760E}"/>
                  </a:ext>
                </a:extLst>
              </p:cNvPr>
              <p:cNvSpPr txBox="1"/>
              <p:nvPr/>
            </p:nvSpPr>
            <p:spPr>
              <a:xfrm>
                <a:off x="4211003" y="2885913"/>
                <a:ext cx="107943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de-AT" dirty="0"/>
                  <a:t> in V: 0V - 5V</a:t>
                </a:r>
              </a:p>
            </p:txBody>
          </p:sp>
        </mc:Choice>
        <mc:Fallback xmlns="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42D921D1-8864-4B94-8AFA-D4AE2C177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003" y="2885913"/>
                <a:ext cx="1079434" cy="646331"/>
              </a:xfrm>
              <a:prstGeom prst="rect">
                <a:avLst/>
              </a:prstGeom>
              <a:blipFill>
                <a:blip r:embed="rId2"/>
                <a:stretch>
                  <a:fillRect l="-5085" t="-4717" b="-14151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feld 48">
                <a:extLst>
                  <a:ext uri="{FF2B5EF4-FFF2-40B4-BE49-F238E27FC236}">
                    <a16:creationId xmlns:a16="http://schemas.microsoft.com/office/drawing/2014/main" id="{42D921D1-8864-4B94-8AFA-D4AE2C17760E}"/>
                  </a:ext>
                </a:extLst>
              </p:cNvPr>
              <p:cNvSpPr txBox="1"/>
              <p:nvPr/>
            </p:nvSpPr>
            <p:spPr>
              <a:xfrm>
                <a:off x="7833731" y="3134071"/>
                <a:ext cx="970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de-AT" dirty="0"/>
                  <a:t> in °C</a:t>
                </a:r>
              </a:p>
            </p:txBody>
          </p:sp>
        </mc:Choice>
        <mc:Fallback xmlns="">
          <p:sp>
            <p:nvSpPr>
              <p:cNvPr id="49" name="Textfeld 48">
                <a:extLst>
                  <a:ext uri="{FF2B5EF4-FFF2-40B4-BE49-F238E27FC236}">
                    <a16:creationId xmlns:a16="http://schemas.microsoft.com/office/drawing/2014/main" id="{42D921D1-8864-4B94-8AFA-D4AE2C177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3731" y="3134071"/>
                <a:ext cx="970402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1DD8BF09-ACC2-4D24-B38B-5D96858BEE27}"/>
              </a:ext>
            </a:extLst>
          </p:cNvPr>
          <p:cNvCxnSpPr>
            <a:cxnSpLocks/>
            <a:stCxn id="31" idx="6"/>
          </p:cNvCxnSpPr>
          <p:nvPr/>
        </p:nvCxnSpPr>
        <p:spPr>
          <a:xfrm>
            <a:off x="7733535" y="3501570"/>
            <a:ext cx="94292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hteck 54">
            <a:extLst>
              <a:ext uri="{FF2B5EF4-FFF2-40B4-BE49-F238E27FC236}">
                <a16:creationId xmlns:a16="http://schemas.microsoft.com/office/drawing/2014/main" id="{82946CE4-FD50-49D3-B229-B675FB42E7C8}"/>
              </a:ext>
            </a:extLst>
          </p:cNvPr>
          <p:cNvSpPr/>
          <p:nvPr/>
        </p:nvSpPr>
        <p:spPr>
          <a:xfrm>
            <a:off x="2411760" y="4259068"/>
            <a:ext cx="1728878" cy="865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53E4F436-EB95-44B9-8A62-065810A6517B}"/>
              </a:ext>
            </a:extLst>
          </p:cNvPr>
          <p:cNvSpPr txBox="1"/>
          <p:nvPr/>
        </p:nvSpPr>
        <p:spPr>
          <a:xfrm>
            <a:off x="2420713" y="4366790"/>
            <a:ext cx="17288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SPS Eingangs-</a:t>
            </a:r>
          </a:p>
          <a:p>
            <a:pPr algn="ctr"/>
            <a:r>
              <a:rPr lang="de-DE" sz="1600" dirty="0"/>
              <a:t>klemme</a:t>
            </a:r>
            <a:endParaRPr lang="de-AT" sz="1600" dirty="0"/>
          </a:p>
        </p:txBody>
      </p:sp>
      <p:cxnSp>
        <p:nvCxnSpPr>
          <p:cNvPr id="64" name="Gewinkelter Verbinder 63"/>
          <p:cNvCxnSpPr>
            <a:stCxn id="49" idx="2"/>
            <a:endCxn id="55" idx="3"/>
          </p:cNvCxnSpPr>
          <p:nvPr/>
        </p:nvCxnSpPr>
        <p:spPr>
          <a:xfrm rot="5400000">
            <a:off x="5635648" y="2008393"/>
            <a:ext cx="1188275" cy="417829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CDC97F9D-B798-4A42-BBA8-0989DB9557D5}"/>
              </a:ext>
            </a:extLst>
          </p:cNvPr>
          <p:cNvCxnSpPr>
            <a:cxnSpLocks/>
            <a:stCxn id="55" idx="1"/>
          </p:cNvCxnSpPr>
          <p:nvPr/>
        </p:nvCxnSpPr>
        <p:spPr>
          <a:xfrm flipH="1">
            <a:off x="1874431" y="4691678"/>
            <a:ext cx="53732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rader Verbinder 78"/>
          <p:cNvCxnSpPr/>
          <p:nvPr/>
        </p:nvCxnSpPr>
        <p:spPr>
          <a:xfrm>
            <a:off x="2195736" y="1683236"/>
            <a:ext cx="0" cy="4248472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Textfeld 80"/>
          <p:cNvSpPr txBox="1"/>
          <p:nvPr/>
        </p:nvSpPr>
        <p:spPr>
          <a:xfrm>
            <a:off x="2483768" y="1683236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„Echte Welt“</a:t>
            </a:r>
            <a:endParaRPr lang="de-AT" dirty="0"/>
          </a:p>
        </p:txBody>
      </p:sp>
      <p:sp>
        <p:nvSpPr>
          <p:cNvPr id="82" name="Textfeld 81"/>
          <p:cNvSpPr txBox="1"/>
          <p:nvPr/>
        </p:nvSpPr>
        <p:spPr>
          <a:xfrm>
            <a:off x="507515" y="165615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 der SPS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955615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ERSTES BLOCK-DIAGRAMM</a:t>
            </a:r>
            <a:endParaRPr lang="de-DE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2946CE4-FD50-49D3-B229-B675FB42E7C8}"/>
              </a:ext>
            </a:extLst>
          </p:cNvPr>
          <p:cNvSpPr/>
          <p:nvPr/>
        </p:nvSpPr>
        <p:spPr>
          <a:xfrm>
            <a:off x="2411760" y="3068960"/>
            <a:ext cx="1728878" cy="865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3E4F436-EB95-44B9-8A62-065810A6517B}"/>
              </a:ext>
            </a:extLst>
          </p:cNvPr>
          <p:cNvSpPr txBox="1"/>
          <p:nvPr/>
        </p:nvSpPr>
        <p:spPr>
          <a:xfrm>
            <a:off x="2420713" y="3176682"/>
            <a:ext cx="17288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SPS Ausgangs-</a:t>
            </a:r>
          </a:p>
          <a:p>
            <a:pPr algn="ctr"/>
            <a:r>
              <a:rPr lang="de-DE" sz="1600" dirty="0"/>
              <a:t>klemme</a:t>
            </a:r>
            <a:endParaRPr lang="de-AT" sz="160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1DD8BF09-ACC2-4D24-B38B-5D96858BEE27}"/>
              </a:ext>
            </a:extLst>
          </p:cNvPr>
          <p:cNvCxnSpPr>
            <a:cxnSpLocks/>
            <a:stCxn id="14" idx="3"/>
            <a:endCxn id="21" idx="1"/>
          </p:cNvCxnSpPr>
          <p:nvPr/>
        </p:nvCxnSpPr>
        <p:spPr>
          <a:xfrm>
            <a:off x="4140638" y="3501570"/>
            <a:ext cx="11734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CDC97F9D-B798-4A42-BBA8-0989DB9557D5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1874431" y="3501570"/>
            <a:ext cx="53732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42D921D1-8864-4B94-8AFA-D4AE2C17760E}"/>
              </a:ext>
            </a:extLst>
          </p:cNvPr>
          <p:cNvSpPr txBox="1"/>
          <p:nvPr/>
        </p:nvSpPr>
        <p:spPr>
          <a:xfrm>
            <a:off x="6431527" y="2492442"/>
            <a:ext cx="1166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„Störung“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2946CE4-FD50-49D3-B229-B675FB42E7C8}"/>
              </a:ext>
            </a:extLst>
          </p:cNvPr>
          <p:cNvSpPr/>
          <p:nvPr/>
        </p:nvSpPr>
        <p:spPr>
          <a:xfrm>
            <a:off x="5314137" y="3068960"/>
            <a:ext cx="1346095" cy="865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3E4F436-EB95-44B9-8A62-065810A6517B}"/>
              </a:ext>
            </a:extLst>
          </p:cNvPr>
          <p:cNvSpPr txBox="1"/>
          <p:nvPr/>
        </p:nvSpPr>
        <p:spPr>
          <a:xfrm>
            <a:off x="5290437" y="3100959"/>
            <a:ext cx="1369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Heizelement &amp; thermisch Masse</a:t>
            </a:r>
            <a:endParaRPr lang="de-AT" sz="1600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2946CE4-FD50-49D3-B229-B675FB42E7C8}"/>
              </a:ext>
            </a:extLst>
          </p:cNvPr>
          <p:cNvSpPr/>
          <p:nvPr/>
        </p:nvSpPr>
        <p:spPr>
          <a:xfrm>
            <a:off x="6927649" y="1946594"/>
            <a:ext cx="1246193" cy="57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53E4F436-EB95-44B9-8A62-065810A6517B}"/>
              </a:ext>
            </a:extLst>
          </p:cNvPr>
          <p:cNvSpPr txBox="1"/>
          <p:nvPr/>
        </p:nvSpPr>
        <p:spPr>
          <a:xfrm>
            <a:off x="6914934" y="1932119"/>
            <a:ext cx="1333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Ventilatoren,</a:t>
            </a:r>
          </a:p>
          <a:p>
            <a:pPr algn="ctr"/>
            <a:r>
              <a:rPr lang="de-DE" sz="1600" dirty="0"/>
              <a:t>etc.</a:t>
            </a:r>
            <a:endParaRPr lang="de-AT" sz="1600" dirty="0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5756A245-CCDD-4449-BD05-0EDFC5C568F8}"/>
              </a:ext>
            </a:extLst>
          </p:cNvPr>
          <p:cNvSpPr/>
          <p:nvPr/>
        </p:nvSpPr>
        <p:spPr>
          <a:xfrm>
            <a:off x="7367956" y="3301515"/>
            <a:ext cx="365579" cy="40011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42" name="Gerade Verbindung mit Pfeil 41"/>
          <p:cNvCxnSpPr>
            <a:stCxn id="26" idx="2"/>
            <a:endCxn id="31" idx="0"/>
          </p:cNvCxnSpPr>
          <p:nvPr/>
        </p:nvCxnSpPr>
        <p:spPr>
          <a:xfrm>
            <a:off x="7550746" y="2517810"/>
            <a:ext cx="0" cy="78370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1DD8BF09-ACC2-4D24-B38B-5D96858BEE27}"/>
              </a:ext>
            </a:extLst>
          </p:cNvPr>
          <p:cNvCxnSpPr>
            <a:cxnSpLocks/>
            <a:stCxn id="21" idx="3"/>
            <a:endCxn id="31" idx="2"/>
          </p:cNvCxnSpPr>
          <p:nvPr/>
        </p:nvCxnSpPr>
        <p:spPr>
          <a:xfrm>
            <a:off x="6660232" y="3501570"/>
            <a:ext cx="70772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feld 46">
            <a:extLst>
              <a:ext uri="{FF2B5EF4-FFF2-40B4-BE49-F238E27FC236}">
                <a16:creationId xmlns:a16="http://schemas.microsoft.com/office/drawing/2014/main" id="{42D921D1-8864-4B94-8AFA-D4AE2C17760E}"/>
              </a:ext>
            </a:extLst>
          </p:cNvPr>
          <p:cNvSpPr txBox="1"/>
          <p:nvPr/>
        </p:nvSpPr>
        <p:spPr>
          <a:xfrm>
            <a:off x="7267760" y="2949405"/>
            <a:ext cx="313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42D921D1-8864-4B94-8AFA-D4AE2C17760E}"/>
                  </a:ext>
                </a:extLst>
              </p:cNvPr>
              <p:cNvSpPr txBox="1"/>
              <p:nvPr/>
            </p:nvSpPr>
            <p:spPr>
              <a:xfrm>
                <a:off x="4211003" y="2885913"/>
                <a:ext cx="107943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de-AT" dirty="0"/>
                  <a:t> in V: 0V - 5V</a:t>
                </a:r>
              </a:p>
            </p:txBody>
          </p:sp>
        </mc:Choice>
        <mc:Fallback xmlns="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42D921D1-8864-4B94-8AFA-D4AE2C177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003" y="2885913"/>
                <a:ext cx="1079434" cy="646331"/>
              </a:xfrm>
              <a:prstGeom prst="rect">
                <a:avLst/>
              </a:prstGeom>
              <a:blipFill>
                <a:blip r:embed="rId2"/>
                <a:stretch>
                  <a:fillRect l="-5085" t="-4717" b="-14151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feld 48">
                <a:extLst>
                  <a:ext uri="{FF2B5EF4-FFF2-40B4-BE49-F238E27FC236}">
                    <a16:creationId xmlns:a16="http://schemas.microsoft.com/office/drawing/2014/main" id="{42D921D1-8864-4B94-8AFA-D4AE2C17760E}"/>
                  </a:ext>
                </a:extLst>
              </p:cNvPr>
              <p:cNvSpPr txBox="1"/>
              <p:nvPr/>
            </p:nvSpPr>
            <p:spPr>
              <a:xfrm>
                <a:off x="7833731" y="3134071"/>
                <a:ext cx="970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de-AT" dirty="0"/>
                  <a:t> in °C</a:t>
                </a:r>
              </a:p>
            </p:txBody>
          </p:sp>
        </mc:Choice>
        <mc:Fallback xmlns="">
          <p:sp>
            <p:nvSpPr>
              <p:cNvPr id="49" name="Textfeld 48">
                <a:extLst>
                  <a:ext uri="{FF2B5EF4-FFF2-40B4-BE49-F238E27FC236}">
                    <a16:creationId xmlns:a16="http://schemas.microsoft.com/office/drawing/2014/main" id="{42D921D1-8864-4B94-8AFA-D4AE2C177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3731" y="3134071"/>
                <a:ext cx="970402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1DD8BF09-ACC2-4D24-B38B-5D96858BEE27}"/>
              </a:ext>
            </a:extLst>
          </p:cNvPr>
          <p:cNvCxnSpPr>
            <a:cxnSpLocks/>
            <a:stCxn id="31" idx="6"/>
          </p:cNvCxnSpPr>
          <p:nvPr/>
        </p:nvCxnSpPr>
        <p:spPr>
          <a:xfrm>
            <a:off x="7733535" y="3501570"/>
            <a:ext cx="94292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hteck 54">
            <a:extLst>
              <a:ext uri="{FF2B5EF4-FFF2-40B4-BE49-F238E27FC236}">
                <a16:creationId xmlns:a16="http://schemas.microsoft.com/office/drawing/2014/main" id="{82946CE4-FD50-49D3-B229-B675FB42E7C8}"/>
              </a:ext>
            </a:extLst>
          </p:cNvPr>
          <p:cNvSpPr/>
          <p:nvPr/>
        </p:nvSpPr>
        <p:spPr>
          <a:xfrm>
            <a:off x="2411760" y="4259068"/>
            <a:ext cx="1728878" cy="865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53E4F436-EB95-44B9-8A62-065810A6517B}"/>
              </a:ext>
            </a:extLst>
          </p:cNvPr>
          <p:cNvSpPr txBox="1"/>
          <p:nvPr/>
        </p:nvSpPr>
        <p:spPr>
          <a:xfrm>
            <a:off x="2420713" y="4366790"/>
            <a:ext cx="17288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SPS Eingangs-</a:t>
            </a:r>
          </a:p>
          <a:p>
            <a:pPr algn="ctr"/>
            <a:r>
              <a:rPr lang="de-DE" sz="1600" dirty="0"/>
              <a:t>klemme</a:t>
            </a:r>
            <a:endParaRPr lang="de-AT" sz="1600" dirty="0"/>
          </a:p>
        </p:txBody>
      </p:sp>
      <p:cxnSp>
        <p:nvCxnSpPr>
          <p:cNvPr id="64" name="Gewinkelter Verbinder 63"/>
          <p:cNvCxnSpPr>
            <a:stCxn id="49" idx="2"/>
            <a:endCxn id="55" idx="3"/>
          </p:cNvCxnSpPr>
          <p:nvPr/>
        </p:nvCxnSpPr>
        <p:spPr>
          <a:xfrm rot="5400000">
            <a:off x="5635648" y="2008393"/>
            <a:ext cx="1188275" cy="417829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CDC97F9D-B798-4A42-BBA8-0989DB9557D5}"/>
              </a:ext>
            </a:extLst>
          </p:cNvPr>
          <p:cNvCxnSpPr>
            <a:cxnSpLocks/>
            <a:stCxn id="55" idx="1"/>
          </p:cNvCxnSpPr>
          <p:nvPr/>
        </p:nvCxnSpPr>
        <p:spPr>
          <a:xfrm flipH="1">
            <a:off x="1874431" y="4691678"/>
            <a:ext cx="53732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rader Verbinder 78"/>
          <p:cNvCxnSpPr/>
          <p:nvPr/>
        </p:nvCxnSpPr>
        <p:spPr>
          <a:xfrm>
            <a:off x="2195736" y="1683236"/>
            <a:ext cx="0" cy="4248472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Textfeld 80"/>
          <p:cNvSpPr txBox="1"/>
          <p:nvPr/>
        </p:nvSpPr>
        <p:spPr>
          <a:xfrm>
            <a:off x="2483768" y="1683236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„Echte Welt“</a:t>
            </a:r>
            <a:endParaRPr lang="de-AT" dirty="0"/>
          </a:p>
        </p:txBody>
      </p:sp>
      <p:sp>
        <p:nvSpPr>
          <p:cNvPr id="82" name="Textfeld 81"/>
          <p:cNvSpPr txBox="1"/>
          <p:nvPr/>
        </p:nvSpPr>
        <p:spPr>
          <a:xfrm>
            <a:off x="507515" y="165615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 der SPS</a:t>
            </a:r>
            <a:endParaRPr lang="de-AT" dirty="0"/>
          </a:p>
        </p:txBody>
      </p:sp>
      <p:sp>
        <p:nvSpPr>
          <p:cNvPr id="3" name="Rechteck 2"/>
          <p:cNvSpPr/>
          <p:nvPr/>
        </p:nvSpPr>
        <p:spPr>
          <a:xfrm>
            <a:off x="5148064" y="1772816"/>
            <a:ext cx="3656069" cy="3312368"/>
          </a:xfrm>
          <a:prstGeom prst="rect">
            <a:avLst/>
          </a:prstGeom>
          <a:noFill/>
          <a:ln>
            <a:solidFill>
              <a:srgbClr val="F49B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8" name="Textfeld 27"/>
          <p:cNvSpPr txBox="1"/>
          <p:nvPr/>
        </p:nvSpPr>
        <p:spPr>
          <a:xfrm>
            <a:off x="5436782" y="1395524"/>
            <a:ext cx="3239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Zu identifizierendes System!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600833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SYSTEMIDENTIFIKATION / MODELLBILDUNG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>
          <a:xfrm>
            <a:off x="464375" y="1693960"/>
            <a:ext cx="3424234" cy="3857652"/>
          </a:xfrm>
        </p:spPr>
        <p:txBody>
          <a:bodyPr>
            <a:normAutofit/>
          </a:bodyPr>
          <a:lstStyle/>
          <a:p>
            <a:r>
              <a:rPr lang="de-DE" sz="2400" dirty="0"/>
              <a:t>Systemeingang:</a:t>
            </a:r>
          </a:p>
          <a:p>
            <a:pPr lvl="1"/>
            <a:r>
              <a:rPr lang="de-DE" sz="2400" dirty="0"/>
              <a:t>Spannung U in V</a:t>
            </a:r>
          </a:p>
          <a:p>
            <a:endParaRPr lang="de-DE" sz="2400" dirty="0"/>
          </a:p>
          <a:p>
            <a:r>
              <a:rPr lang="de-DE" sz="2400" dirty="0"/>
              <a:t>Systemausgang:</a:t>
            </a:r>
          </a:p>
          <a:p>
            <a:pPr lvl="1"/>
            <a:r>
              <a:rPr lang="de-DE" sz="2200" dirty="0"/>
              <a:t>Temperatur T in °C</a:t>
            </a:r>
          </a:p>
          <a:p>
            <a:pPr lvl="1"/>
            <a:endParaRPr lang="de-DE" sz="2200" dirty="0"/>
          </a:p>
          <a:p>
            <a:r>
              <a:rPr lang="de-DE" sz="2400" dirty="0">
                <a:sym typeface="Wingdings" panose="05000000000000000000" pitchFamily="2" charset="2"/>
              </a:rPr>
              <a:t> müssen eine Sprungantwort aufzeichnen</a:t>
            </a:r>
            <a:endParaRPr lang="de-AT" sz="240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1DD8BF09-ACC2-4D24-B38B-5D96858BEE27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4140638" y="3789602"/>
            <a:ext cx="11734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42D921D1-8864-4B94-8AFA-D4AE2C17760E}"/>
              </a:ext>
            </a:extLst>
          </p:cNvPr>
          <p:cNvSpPr txBox="1"/>
          <p:nvPr/>
        </p:nvSpPr>
        <p:spPr>
          <a:xfrm>
            <a:off x="6431527" y="2780474"/>
            <a:ext cx="1166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„Störung“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2946CE4-FD50-49D3-B229-B675FB42E7C8}"/>
              </a:ext>
            </a:extLst>
          </p:cNvPr>
          <p:cNvSpPr/>
          <p:nvPr/>
        </p:nvSpPr>
        <p:spPr>
          <a:xfrm>
            <a:off x="5314137" y="3356992"/>
            <a:ext cx="1346095" cy="865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3E4F436-EB95-44B9-8A62-065810A6517B}"/>
              </a:ext>
            </a:extLst>
          </p:cNvPr>
          <p:cNvSpPr txBox="1"/>
          <p:nvPr/>
        </p:nvSpPr>
        <p:spPr>
          <a:xfrm>
            <a:off x="5290437" y="3388991"/>
            <a:ext cx="1369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Heizelement &amp; thermisch Masse</a:t>
            </a:r>
            <a:endParaRPr lang="de-AT" sz="1600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2946CE4-FD50-49D3-B229-B675FB42E7C8}"/>
              </a:ext>
            </a:extLst>
          </p:cNvPr>
          <p:cNvSpPr/>
          <p:nvPr/>
        </p:nvSpPr>
        <p:spPr>
          <a:xfrm>
            <a:off x="6927649" y="2234626"/>
            <a:ext cx="1246193" cy="57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53E4F436-EB95-44B9-8A62-065810A6517B}"/>
              </a:ext>
            </a:extLst>
          </p:cNvPr>
          <p:cNvSpPr txBox="1"/>
          <p:nvPr/>
        </p:nvSpPr>
        <p:spPr>
          <a:xfrm>
            <a:off x="6914934" y="2220151"/>
            <a:ext cx="1333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Ventilatoren,</a:t>
            </a:r>
          </a:p>
          <a:p>
            <a:pPr algn="ctr"/>
            <a:r>
              <a:rPr lang="de-DE" sz="1600" dirty="0"/>
              <a:t>etc.</a:t>
            </a:r>
            <a:endParaRPr lang="de-AT" sz="1600" dirty="0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5756A245-CCDD-4449-BD05-0EDFC5C568F8}"/>
              </a:ext>
            </a:extLst>
          </p:cNvPr>
          <p:cNvSpPr/>
          <p:nvPr/>
        </p:nvSpPr>
        <p:spPr>
          <a:xfrm>
            <a:off x="7367956" y="3589547"/>
            <a:ext cx="365579" cy="40011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42" name="Gerade Verbindung mit Pfeil 41"/>
          <p:cNvCxnSpPr>
            <a:stCxn id="26" idx="2"/>
            <a:endCxn id="31" idx="0"/>
          </p:cNvCxnSpPr>
          <p:nvPr/>
        </p:nvCxnSpPr>
        <p:spPr>
          <a:xfrm>
            <a:off x="7550746" y="2805842"/>
            <a:ext cx="0" cy="78370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1DD8BF09-ACC2-4D24-B38B-5D96858BEE27}"/>
              </a:ext>
            </a:extLst>
          </p:cNvPr>
          <p:cNvCxnSpPr>
            <a:cxnSpLocks/>
            <a:stCxn id="21" idx="3"/>
            <a:endCxn id="31" idx="2"/>
          </p:cNvCxnSpPr>
          <p:nvPr/>
        </p:nvCxnSpPr>
        <p:spPr>
          <a:xfrm>
            <a:off x="6660232" y="3789602"/>
            <a:ext cx="70772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feld 46">
            <a:extLst>
              <a:ext uri="{FF2B5EF4-FFF2-40B4-BE49-F238E27FC236}">
                <a16:creationId xmlns:a16="http://schemas.microsoft.com/office/drawing/2014/main" id="{42D921D1-8864-4B94-8AFA-D4AE2C17760E}"/>
              </a:ext>
            </a:extLst>
          </p:cNvPr>
          <p:cNvSpPr txBox="1"/>
          <p:nvPr/>
        </p:nvSpPr>
        <p:spPr>
          <a:xfrm>
            <a:off x="7267760" y="3237437"/>
            <a:ext cx="313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42D921D1-8864-4B94-8AFA-D4AE2C17760E}"/>
                  </a:ext>
                </a:extLst>
              </p:cNvPr>
              <p:cNvSpPr txBox="1"/>
              <p:nvPr/>
            </p:nvSpPr>
            <p:spPr>
              <a:xfrm>
                <a:off x="4211003" y="3173945"/>
                <a:ext cx="107943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de-AT" dirty="0"/>
                  <a:t> in V: 0V - 5V</a:t>
                </a:r>
              </a:p>
            </p:txBody>
          </p:sp>
        </mc:Choice>
        <mc:Fallback xmlns="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42D921D1-8864-4B94-8AFA-D4AE2C177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003" y="3173945"/>
                <a:ext cx="1079434" cy="646331"/>
              </a:xfrm>
              <a:prstGeom prst="rect">
                <a:avLst/>
              </a:prstGeom>
              <a:blipFill>
                <a:blip r:embed="rId2"/>
                <a:stretch>
                  <a:fillRect l="-5085" t="-5660" b="-14151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feld 48">
                <a:extLst>
                  <a:ext uri="{FF2B5EF4-FFF2-40B4-BE49-F238E27FC236}">
                    <a16:creationId xmlns:a16="http://schemas.microsoft.com/office/drawing/2014/main" id="{42D921D1-8864-4B94-8AFA-D4AE2C17760E}"/>
                  </a:ext>
                </a:extLst>
              </p:cNvPr>
              <p:cNvSpPr txBox="1"/>
              <p:nvPr/>
            </p:nvSpPr>
            <p:spPr>
              <a:xfrm>
                <a:off x="7833731" y="3422103"/>
                <a:ext cx="970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de-AT" dirty="0"/>
                  <a:t> in °C</a:t>
                </a:r>
              </a:p>
            </p:txBody>
          </p:sp>
        </mc:Choice>
        <mc:Fallback xmlns="">
          <p:sp>
            <p:nvSpPr>
              <p:cNvPr id="49" name="Textfeld 48">
                <a:extLst>
                  <a:ext uri="{FF2B5EF4-FFF2-40B4-BE49-F238E27FC236}">
                    <a16:creationId xmlns:a16="http://schemas.microsoft.com/office/drawing/2014/main" id="{42D921D1-8864-4B94-8AFA-D4AE2C177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3731" y="3422103"/>
                <a:ext cx="970402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1DD8BF09-ACC2-4D24-B38B-5D96858BEE27}"/>
              </a:ext>
            </a:extLst>
          </p:cNvPr>
          <p:cNvCxnSpPr>
            <a:cxnSpLocks/>
            <a:stCxn id="31" idx="6"/>
          </p:cNvCxnSpPr>
          <p:nvPr/>
        </p:nvCxnSpPr>
        <p:spPr>
          <a:xfrm>
            <a:off x="7733535" y="3789602"/>
            <a:ext cx="94292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winkelter Verbinder 63"/>
          <p:cNvCxnSpPr>
            <a:stCxn id="49" idx="2"/>
          </p:cNvCxnSpPr>
          <p:nvPr/>
        </p:nvCxnSpPr>
        <p:spPr>
          <a:xfrm rot="5400000">
            <a:off x="5635648" y="2296425"/>
            <a:ext cx="1188275" cy="417829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hteck 2"/>
          <p:cNvSpPr/>
          <p:nvPr/>
        </p:nvSpPr>
        <p:spPr>
          <a:xfrm>
            <a:off x="5148064" y="2060848"/>
            <a:ext cx="3656069" cy="3312368"/>
          </a:xfrm>
          <a:prstGeom prst="rect">
            <a:avLst/>
          </a:prstGeom>
          <a:noFill/>
          <a:ln>
            <a:solidFill>
              <a:srgbClr val="F49B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8" name="Textfeld 27"/>
          <p:cNvSpPr txBox="1"/>
          <p:nvPr/>
        </p:nvSpPr>
        <p:spPr>
          <a:xfrm>
            <a:off x="5436782" y="1683556"/>
            <a:ext cx="3239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Zu identifizierendes System!</a:t>
            </a:r>
            <a:endParaRPr lang="de-A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42D921D1-8864-4B94-8AFA-D4AE2C17760E}"/>
                  </a:ext>
                </a:extLst>
              </p:cNvPr>
              <p:cNvSpPr txBox="1"/>
              <p:nvPr/>
            </p:nvSpPr>
            <p:spPr>
              <a:xfrm>
                <a:off x="4177662" y="4564041"/>
                <a:ext cx="970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de-AT" dirty="0"/>
                  <a:t> in °C</a:t>
                </a:r>
              </a:p>
            </p:txBody>
          </p:sp>
        </mc:Choice>
        <mc:Fallback xmlns="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42D921D1-8864-4B94-8AFA-D4AE2C177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7662" y="4564041"/>
                <a:ext cx="970402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2401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SYSTEMIDENTIFIKATION / MODELLBILDUNG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>
          <a:xfrm>
            <a:off x="464374" y="1693960"/>
            <a:ext cx="8251029" cy="3857652"/>
          </a:xfrm>
        </p:spPr>
        <p:txBody>
          <a:bodyPr>
            <a:normAutofit/>
          </a:bodyPr>
          <a:lstStyle/>
          <a:p>
            <a:r>
              <a:rPr lang="de-DE" sz="2400" dirty="0"/>
              <a:t>Wollen wir nun gemeinsam in MATLAB/Simulink machen</a:t>
            </a:r>
            <a:endParaRPr lang="de-AT" sz="2400" dirty="0"/>
          </a:p>
        </p:txBody>
      </p:sp>
    </p:spTree>
    <p:extLst>
      <p:ext uri="{BB962C8B-B14F-4D97-AF65-F5344CB8AC3E}">
        <p14:creationId xmlns:p14="http://schemas.microsoft.com/office/powerpoint/2010/main" val="215236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688208"/>
            <a:ext cx="8258204" cy="720000"/>
          </a:xfrm>
        </p:spPr>
        <p:txBody>
          <a:bodyPr>
            <a:normAutofit fontScale="90000"/>
          </a:bodyPr>
          <a:lstStyle/>
          <a:p>
            <a:r>
              <a:rPr lang="de-AT" dirty="0"/>
              <a:t>REGELN von PT1T-SYSTEMEN</a:t>
            </a:r>
            <a:br>
              <a:rPr lang="de-AT" dirty="0"/>
            </a:br>
            <a:r>
              <a:rPr lang="de-AT" dirty="0"/>
              <a:t>T-SUMMEN-REGEL</a:t>
            </a:r>
            <a:endParaRPr lang="de-DE" dirty="0"/>
          </a:p>
        </p:txBody>
      </p:sp>
      <p:sp>
        <p:nvSpPr>
          <p:cNvPr id="7" name="AutoShape 1" descr="K_{p}=0{,}5\cdot K_{{p,{\mathrm  {krit}}}}">
            <a:extLst>
              <a:ext uri="{FF2B5EF4-FFF2-40B4-BE49-F238E27FC236}">
                <a16:creationId xmlns:a16="http://schemas.microsoft.com/office/drawing/2014/main" id="{2E8B0656-1CF6-4A91-8CEE-FEC307E686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95877" y="198884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/>
          </a:p>
        </p:txBody>
      </p:sp>
      <p:sp>
        <p:nvSpPr>
          <p:cNvPr id="8" name="AutoShape 2" descr="K_{p}=0{,}45\cdot K_{{p,{\mathrm  {krit}}}},T_{n}=0{,}85\cdot T_{{{\mathrm  {krit}}}}">
            <a:extLst>
              <a:ext uri="{FF2B5EF4-FFF2-40B4-BE49-F238E27FC236}">
                <a16:creationId xmlns:a16="http://schemas.microsoft.com/office/drawing/2014/main" id="{9A787B9B-42DC-4F12-B649-777B5B52F4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95877" y="198884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/>
          </a:p>
        </p:txBody>
      </p:sp>
      <p:sp>
        <p:nvSpPr>
          <p:cNvPr id="9" name="AutoShape 3" descr="K_{p}=0{,}55\cdot K_{{p,{\mathrm  {krit}}}},T_{v}=0{,}15\cdot T_{{{\mathrm  {krit}}}}">
            <a:extLst>
              <a:ext uri="{FF2B5EF4-FFF2-40B4-BE49-F238E27FC236}">
                <a16:creationId xmlns:a16="http://schemas.microsoft.com/office/drawing/2014/main" id="{09AA1EF5-3A1C-49F8-8FA3-0C17F67A62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95877" y="198884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/>
          </a:p>
        </p:txBody>
      </p:sp>
      <p:sp>
        <p:nvSpPr>
          <p:cNvPr id="10" name="AutoShape 4" descr="K_{p}=0{,}6\cdot K_{{p,{\mathrm  {krit}}}},T_{n}=0{,}5\cdot T_{{{\mathrm  {krit}}}},T_{v}=0{,}125\cdot T_{{{\mathrm  {krit}}}}">
            <a:extLst>
              <a:ext uri="{FF2B5EF4-FFF2-40B4-BE49-F238E27FC236}">
                <a16:creationId xmlns:a16="http://schemas.microsoft.com/office/drawing/2014/main" id="{7928565E-921C-48F6-9240-0C1B6EF150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95877" y="198884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/>
          </a:p>
        </p:txBody>
      </p:sp>
      <p:sp>
        <p:nvSpPr>
          <p:cNvPr id="11" name="AutoShape 5" descr="K_{p}=1/K_{s}\cdot T/T_{t}">
            <a:extLst>
              <a:ext uri="{FF2B5EF4-FFF2-40B4-BE49-F238E27FC236}">
                <a16:creationId xmlns:a16="http://schemas.microsoft.com/office/drawing/2014/main" id="{B731F1E9-9CF8-49C8-A767-F9FD6EDF40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95877" y="198884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/>
          </a:p>
        </p:txBody>
      </p:sp>
      <p:sp>
        <p:nvSpPr>
          <p:cNvPr id="12" name="AutoShape 6" descr="K_{p}=0{,}9/K_{s}\cdot T/T_{t},T_{n}=3{,}33\cdot T_{t}">
            <a:extLst>
              <a:ext uri="{FF2B5EF4-FFF2-40B4-BE49-F238E27FC236}">
                <a16:creationId xmlns:a16="http://schemas.microsoft.com/office/drawing/2014/main" id="{F9018628-6E91-4BC8-A120-7204710BFE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95877" y="198884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/>
          </a:p>
        </p:txBody>
      </p:sp>
      <p:sp>
        <p:nvSpPr>
          <p:cNvPr id="13" name="AutoShape 7" descr="K_{p}=1{,}2/K_{s}\cdot T/T_{t},T_{n}=2\cdot T_{t},T_{v}=0{,}5\cdot T_{t}">
            <a:extLst>
              <a:ext uri="{FF2B5EF4-FFF2-40B4-BE49-F238E27FC236}">
                <a16:creationId xmlns:a16="http://schemas.microsoft.com/office/drawing/2014/main" id="{517C41EB-AE27-466A-9B72-B40C76ABC4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95877" y="198884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Inhaltsplatzhalter 2">
                <a:extLst>
                  <a:ext uri="{FF2B5EF4-FFF2-40B4-BE49-F238E27FC236}">
                    <a16:creationId xmlns:a16="http://schemas.microsoft.com/office/drawing/2014/main" id="{5B82964C-18FC-4F9C-A0A8-843F459F82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4375" y="1693960"/>
                <a:ext cx="8229600" cy="4327328"/>
              </a:xfrm>
            </p:spPr>
            <p:txBody>
              <a:bodyPr>
                <a:normAutofit/>
              </a:bodyPr>
              <a:lstStyle/>
              <a:p>
                <a:r>
                  <a:rPr lang="de-AT" dirty="0"/>
                  <a:t>Generell für Regelstrecken mit</a:t>
                </a:r>
                <a:br>
                  <a:rPr lang="de-AT" dirty="0"/>
                </a:br>
                <a:r>
                  <a:rPr lang="de-AT" dirty="0"/>
                  <a:t>Verhalten wie: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AT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𝐾</m:t>
                      </m:r>
                      <m:f>
                        <m:fPr>
                          <m:ctrlPr>
                            <a:rPr lang="de-AT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de-AT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AT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sSub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(</m:t>
                              </m:r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𝑠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+1)</m:t>
                          </m:r>
                        </m:den>
                      </m:f>
                      <m:f>
                        <m:fPr>
                          <m:ctrlPr>
                            <a:rPr lang="de-AT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de-AT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sSub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(</m:t>
                              </m:r>
                              <m:r>
                                <a:rPr lang="de-AT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𝑠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+1)</m:t>
                          </m:r>
                        </m:den>
                      </m:f>
                      <m:f>
                        <m:fPr>
                          <m:ctrlPr>
                            <a:rPr lang="de-A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…</m:t>
                          </m:r>
                        </m:num>
                        <m:den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…</m:t>
                          </m:r>
                        </m:den>
                      </m:f>
                      <m:f>
                        <m:fPr>
                          <m:ctrlPr>
                            <a:rPr lang="de-AT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de-AT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sSub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(</m:t>
                              </m:r>
                              <m:r>
                                <a:rPr lang="de-AT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𝑠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+1)</m:t>
                          </m:r>
                        </m:den>
                      </m:f>
                      <m:sSup>
                        <m:sSupPr>
                          <m:ctrlPr>
                            <a:rPr lang="de-AT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lang="de-AT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de-AT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AT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sSubPr>
                            <m:e>
                              <m:r>
                                <a:rPr lang="de-AT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itchFamily="34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AT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itchFamily="34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de-AT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𝑠</m:t>
                          </m:r>
                        </m:sup>
                      </m:sSup>
                    </m:oMath>
                    <m:oMath xmlns:m="http://schemas.openxmlformats.org/officeDocument/2006/math"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 ⇒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𝜏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∑</m:t>
                          </m:r>
                        </m:sub>
                      </m:sSub>
                      <m:r>
                        <a:rPr lang="de-AT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sSub>
                        <m:sSubPr>
                          <m:ctrlPr>
                            <a:rPr lang="de-A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𝜏</m:t>
                          </m:r>
                        </m:e>
                        <m:sub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1</m:t>
                          </m:r>
                        </m:sub>
                      </m:sSub>
                      <m:r>
                        <a:rPr lang="de-A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+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𝜏</m:t>
                          </m:r>
                        </m:e>
                        <m:sub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2</m:t>
                          </m:r>
                        </m:sub>
                      </m:sSub>
                      <m:r>
                        <a:rPr lang="de-A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+ …+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𝜏</m:t>
                          </m:r>
                        </m:e>
                        <m:sub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𝑛</m:t>
                          </m:r>
                        </m:sub>
                      </m:sSub>
                      <m:r>
                        <a:rPr lang="de-AT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+</m:t>
                      </m:r>
                      <m:sSub>
                        <m:sSubPr>
                          <m:ctrlPr>
                            <a:rPr lang="de-AT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de-AT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𝑇</m:t>
                          </m:r>
                        </m:e>
                        <m:sub>
                          <m:r>
                            <a:rPr lang="de-AT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de-AT" dirty="0">
                  <a:ea typeface="Cambria Math" panose="02040503050406030204" pitchFamily="18" charset="0"/>
                  <a:cs typeface="Arial" pitchFamily="34" charset="0"/>
                </a:endParaRPr>
              </a:p>
              <a:p>
                <a:pPr marL="0" indent="0">
                  <a:buNone/>
                </a:pPr>
                <a:endParaRPr lang="de-AT" dirty="0"/>
              </a:p>
              <a:p>
                <a:r>
                  <a:rPr lang="de-AT" dirty="0"/>
                  <a:t>Vereinfacht für PT1T-Systeme: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AT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AT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de-AT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𝐾</m:t>
                          </m:r>
                        </m:num>
                        <m:den>
                          <m: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𝜏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𝑠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+1</m:t>
                          </m:r>
                        </m:den>
                      </m:f>
                      <m:sSup>
                        <m:sSupPr>
                          <m:ctrlPr>
                            <a:rPr lang="de-AT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lang="de-AT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de-AT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AT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itchFamily="34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AT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itchFamily="34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de-AT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𝑠</m:t>
                          </m:r>
                        </m:sup>
                      </m:sSup>
                      <m:r>
                        <a:rPr lang="de-A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⇒</m:t>
                      </m:r>
                      <m:sSub>
                        <m:sSubPr>
                          <m:ctrlP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𝜏</m:t>
                          </m:r>
                        </m:e>
                        <m:sub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∑</m:t>
                          </m:r>
                        </m:sub>
                      </m:sSub>
                      <m:r>
                        <a:rPr lang="de-A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r>
                        <a:rPr lang="de-A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𝜏</m:t>
                      </m:r>
                      <m:r>
                        <a:rPr lang="de-AT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+</m:t>
                      </m:r>
                      <m:sSub>
                        <m:sSubPr>
                          <m:ctrlPr>
                            <a:rPr lang="de-AT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de-AT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𝑇</m:t>
                          </m:r>
                        </m:e>
                        <m:sub>
                          <m:r>
                            <a:rPr lang="de-AT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de-AT" dirty="0">
                  <a:ea typeface="Cambria Math" panose="02040503050406030204" pitchFamily="18" charset="0"/>
                  <a:cs typeface="Arial" pitchFamily="34" charset="0"/>
                </a:endParaRPr>
              </a:p>
              <a:p>
                <a:pPr marL="457200" lvl="1" indent="0">
                  <a:buNone/>
                </a:pPr>
                <a:endParaRPr lang="de-AT" dirty="0"/>
              </a:p>
              <a:p>
                <a:pPr marL="457200" lvl="1" indent="0">
                  <a:buNone/>
                </a:pPr>
                <a:endParaRPr lang="de-AT" dirty="0"/>
              </a:p>
            </p:txBody>
          </p:sp>
        </mc:Choice>
        <mc:Fallback xmlns="">
          <p:sp>
            <p:nvSpPr>
              <p:cNvPr id="17" name="Inhaltsplatzhalter 2">
                <a:extLst>
                  <a:ext uri="{FF2B5EF4-FFF2-40B4-BE49-F238E27FC236}">
                    <a16:creationId xmlns:a16="http://schemas.microsoft.com/office/drawing/2014/main" id="{5B82964C-18FC-4F9C-A0A8-843F459F82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4375" y="1693960"/>
                <a:ext cx="8229600" cy="4327328"/>
              </a:xfrm>
              <a:blipFill>
                <a:blip r:embed="rId3"/>
                <a:stretch>
                  <a:fillRect l="-1333" t="-1549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9">
            <a:extLst>
              <a:ext uri="{FF2B5EF4-FFF2-40B4-BE49-F238E27FC236}">
                <a16:creationId xmlns:a16="http://schemas.microsoft.com/office/drawing/2014/main" id="{2EB77765-FD84-4431-9B05-8D0FD5B70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61909"/>
            <a:ext cx="2592288" cy="2106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88CADDB6-D052-4AE9-B484-CCEEC35B41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6416" y="116712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93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1" descr="K_{p}=0{,}5\cdot K_{{p,{\mathrm  {krit}}}}">
            <a:extLst>
              <a:ext uri="{FF2B5EF4-FFF2-40B4-BE49-F238E27FC236}">
                <a16:creationId xmlns:a16="http://schemas.microsoft.com/office/drawing/2014/main" id="{2E8B0656-1CF6-4A91-8CEE-FEC307E686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95877" y="198884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/>
          </a:p>
        </p:txBody>
      </p:sp>
      <p:sp>
        <p:nvSpPr>
          <p:cNvPr id="8" name="AutoShape 2" descr="K_{p}=0{,}45\cdot K_{{p,{\mathrm  {krit}}}},T_{n}=0{,}85\cdot T_{{{\mathrm  {krit}}}}">
            <a:extLst>
              <a:ext uri="{FF2B5EF4-FFF2-40B4-BE49-F238E27FC236}">
                <a16:creationId xmlns:a16="http://schemas.microsoft.com/office/drawing/2014/main" id="{9A787B9B-42DC-4F12-B649-777B5B52F4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95877" y="198884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/>
          </a:p>
        </p:txBody>
      </p:sp>
      <p:sp>
        <p:nvSpPr>
          <p:cNvPr id="9" name="AutoShape 3" descr="K_{p}=0{,}55\cdot K_{{p,{\mathrm  {krit}}}},T_{v}=0{,}15\cdot T_{{{\mathrm  {krit}}}}">
            <a:extLst>
              <a:ext uri="{FF2B5EF4-FFF2-40B4-BE49-F238E27FC236}">
                <a16:creationId xmlns:a16="http://schemas.microsoft.com/office/drawing/2014/main" id="{09AA1EF5-3A1C-49F8-8FA3-0C17F67A62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95877" y="198884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/>
          </a:p>
        </p:txBody>
      </p:sp>
      <p:sp>
        <p:nvSpPr>
          <p:cNvPr id="10" name="AutoShape 4" descr="K_{p}=0{,}6\cdot K_{{p,{\mathrm  {krit}}}},T_{n}=0{,}5\cdot T_{{{\mathrm  {krit}}}},T_{v}=0{,}125\cdot T_{{{\mathrm  {krit}}}}">
            <a:extLst>
              <a:ext uri="{FF2B5EF4-FFF2-40B4-BE49-F238E27FC236}">
                <a16:creationId xmlns:a16="http://schemas.microsoft.com/office/drawing/2014/main" id="{7928565E-921C-48F6-9240-0C1B6EF150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95877" y="198884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/>
          </a:p>
        </p:txBody>
      </p:sp>
      <p:sp>
        <p:nvSpPr>
          <p:cNvPr id="11" name="AutoShape 5" descr="K_{p}=1/K_{s}\cdot T/T_{t}">
            <a:extLst>
              <a:ext uri="{FF2B5EF4-FFF2-40B4-BE49-F238E27FC236}">
                <a16:creationId xmlns:a16="http://schemas.microsoft.com/office/drawing/2014/main" id="{B731F1E9-9CF8-49C8-A767-F9FD6EDF40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95877" y="198884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/>
          </a:p>
        </p:txBody>
      </p:sp>
      <p:sp>
        <p:nvSpPr>
          <p:cNvPr id="12" name="AutoShape 6" descr="K_{p}=0{,}9/K_{s}\cdot T/T_{t},T_{n}=3{,}33\cdot T_{t}">
            <a:extLst>
              <a:ext uri="{FF2B5EF4-FFF2-40B4-BE49-F238E27FC236}">
                <a16:creationId xmlns:a16="http://schemas.microsoft.com/office/drawing/2014/main" id="{F9018628-6E91-4BC8-A120-7204710BFE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95877" y="198884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/>
          </a:p>
        </p:txBody>
      </p:sp>
      <p:sp>
        <p:nvSpPr>
          <p:cNvPr id="13" name="AutoShape 7" descr="K_{p}=1{,}2/K_{s}\cdot T/T_{t},T_{n}=2\cdot T_{t},T_{v}=0{,}5\cdot T_{t}">
            <a:extLst>
              <a:ext uri="{FF2B5EF4-FFF2-40B4-BE49-F238E27FC236}">
                <a16:creationId xmlns:a16="http://schemas.microsoft.com/office/drawing/2014/main" id="{517C41EB-AE27-466A-9B72-B40C76ABC4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95877" y="198884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Inhaltsplatzhalter 2">
                <a:extLst>
                  <a:ext uri="{FF2B5EF4-FFF2-40B4-BE49-F238E27FC236}">
                    <a16:creationId xmlns:a16="http://schemas.microsoft.com/office/drawing/2014/main" id="{5B82964C-18FC-4F9C-A0A8-843F459F82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4375" y="1693960"/>
                <a:ext cx="8229600" cy="223909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de-AT" dirty="0"/>
                  <a:t>Vereinfacht für PT1T-Systeme: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AT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AT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de-AT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𝐾</m:t>
                          </m:r>
                        </m:num>
                        <m:den>
                          <m: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𝜏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𝑠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+1</m:t>
                          </m:r>
                        </m:den>
                      </m:f>
                      <m:sSup>
                        <m:sSupPr>
                          <m:ctrlPr>
                            <a:rPr lang="de-AT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lang="de-AT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de-AT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AT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itchFamily="34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AT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itchFamily="34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de-AT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𝑠</m:t>
                          </m:r>
                        </m:sup>
                      </m:sSup>
                      <m:r>
                        <a:rPr lang="de-AT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⇒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𝜏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∑</m:t>
                          </m:r>
                        </m:sub>
                      </m:sSub>
                      <m:r>
                        <a:rPr lang="de-AT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r>
                        <a:rPr lang="de-AT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𝜏</m:t>
                      </m:r>
                      <m:r>
                        <a:rPr lang="de-AT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+</m:t>
                      </m:r>
                      <m:sSub>
                        <m:sSubPr>
                          <m:ctrlPr>
                            <a:rPr lang="de-AT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de-AT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𝑇</m:t>
                          </m:r>
                        </m:e>
                        <m:sub>
                          <m:r>
                            <a:rPr lang="de-AT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de-AT" dirty="0">
                  <a:ea typeface="Cambria Math" panose="02040503050406030204" pitchFamily="18" charset="0"/>
                  <a:cs typeface="Arial" pitchFamily="34" charset="0"/>
                </a:endParaRPr>
              </a:p>
              <a:p>
                <a:pPr marL="457200" lvl="1" indent="0" algn="ctr">
                  <a:buNone/>
                </a:pPr>
                <a:endParaRPr lang="de-AT" dirty="0">
                  <a:ea typeface="Cambria Math" panose="02040503050406030204" pitchFamily="18" charset="0"/>
                  <a:cs typeface="Arial" pitchFamily="34" charset="0"/>
                </a:endParaRPr>
              </a:p>
              <a:p>
                <a:r>
                  <a:rPr lang="de-AT" i="1" dirty="0"/>
                  <a:t>K</a:t>
                </a:r>
                <a:r>
                  <a:rPr lang="de-AT" i="1" baseline="-25000" dirty="0"/>
                  <a:t>P</a:t>
                </a:r>
                <a:r>
                  <a:rPr lang="de-AT" dirty="0"/>
                  <a:t>, </a:t>
                </a:r>
                <a:r>
                  <a:rPr lang="de-AT" i="1" dirty="0"/>
                  <a:t>K</a:t>
                </a:r>
                <a:r>
                  <a:rPr lang="de-AT" i="1" baseline="-25000" dirty="0"/>
                  <a:t>I</a:t>
                </a:r>
                <a:r>
                  <a:rPr lang="de-AT" dirty="0"/>
                  <a:t> &amp; </a:t>
                </a:r>
                <a:r>
                  <a:rPr lang="de-AT" i="1" dirty="0"/>
                  <a:t>K</a:t>
                </a:r>
                <a:r>
                  <a:rPr lang="de-AT" i="1" baseline="-25000" dirty="0"/>
                  <a:t>D </a:t>
                </a:r>
                <a:r>
                  <a:rPr lang="de-AT" dirty="0">
                    <a:ea typeface="Cambria Math" panose="02040503050406030204" pitchFamily="18" charset="0"/>
                    <a:cs typeface="Arial" pitchFamily="34" charset="0"/>
                  </a:rPr>
                  <a:t>aus Tabelle bestimmen</a:t>
                </a:r>
              </a:p>
              <a:p>
                <a:pPr marL="457200" lvl="1" indent="0">
                  <a:buNone/>
                </a:pPr>
                <a:endParaRPr lang="de-AT" dirty="0"/>
              </a:p>
              <a:p>
                <a:pPr marL="457200" lvl="1" indent="0">
                  <a:buNone/>
                </a:pPr>
                <a:endParaRPr lang="de-AT" dirty="0"/>
              </a:p>
            </p:txBody>
          </p:sp>
        </mc:Choice>
        <mc:Fallback xmlns="">
          <p:sp>
            <p:nvSpPr>
              <p:cNvPr id="17" name="Inhaltsplatzhalter 2">
                <a:extLst>
                  <a:ext uri="{FF2B5EF4-FFF2-40B4-BE49-F238E27FC236}">
                    <a16:creationId xmlns:a16="http://schemas.microsoft.com/office/drawing/2014/main" id="{5B82964C-18FC-4F9C-A0A8-843F459F82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4375" y="1693960"/>
                <a:ext cx="8229600" cy="2239096"/>
              </a:xfrm>
              <a:blipFill>
                <a:blip r:embed="rId3"/>
                <a:stretch>
                  <a:fillRect l="-1333" t="-4905" b="-2725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elle 14">
                <a:extLst>
                  <a:ext uri="{FF2B5EF4-FFF2-40B4-BE49-F238E27FC236}">
                    <a16:creationId xmlns:a16="http://schemas.microsoft.com/office/drawing/2014/main" id="{83D466E3-52F9-4918-871D-37ECC47E776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1694" y="4005064"/>
              <a:ext cx="8760611" cy="1884905"/>
            </p:xfrm>
            <a:graphic>
              <a:graphicData uri="http://schemas.openxmlformats.org/drawingml/2006/table">
                <a:tbl>
                  <a:tblPr/>
                  <a:tblGrid>
                    <a:gridCol w="786658">
                      <a:extLst>
                        <a:ext uri="{9D8B030D-6E8A-4147-A177-3AD203B41FA5}">
                          <a16:colId xmlns:a16="http://schemas.microsoft.com/office/drawing/2014/main" val="1726326485"/>
                        </a:ext>
                      </a:extLst>
                    </a:gridCol>
                    <a:gridCol w="4043333">
                      <a:extLst>
                        <a:ext uri="{9D8B030D-6E8A-4147-A177-3AD203B41FA5}">
                          <a16:colId xmlns:a16="http://schemas.microsoft.com/office/drawing/2014/main" val="4267221853"/>
                        </a:ext>
                      </a:extLst>
                    </a:gridCol>
                    <a:gridCol w="3930620">
                      <a:extLst>
                        <a:ext uri="{9D8B030D-6E8A-4147-A177-3AD203B41FA5}">
                          <a16:colId xmlns:a16="http://schemas.microsoft.com/office/drawing/2014/main" val="180401152"/>
                        </a:ext>
                      </a:extLst>
                    </a:gridCol>
                  </a:tblGrid>
                  <a:tr h="4193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AT" sz="1600" dirty="0">
                              <a:effectLst/>
                            </a:rPr>
                            <a:t>Regler</a:t>
                          </a:r>
                        </a:p>
                      </a:txBody>
                      <a:tcPr marL="36053" marR="36053" marT="18026" marB="18026" anchor="ctr">
                        <a:lnL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AEC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AT" sz="1600" dirty="0" err="1">
                              <a:effectLst/>
                            </a:rPr>
                            <a:t>Reglerparameter</a:t>
                          </a:r>
                          <a:r>
                            <a:rPr lang="de-AT" sz="1600" dirty="0">
                              <a:effectLst/>
                            </a:rPr>
                            <a:t> (langsam)</a:t>
                          </a:r>
                        </a:p>
                      </a:txBody>
                      <a:tcPr marL="36053" marR="36053" marT="18026" marB="18026" anchor="ctr">
                        <a:lnL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AEC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AT" sz="1600" dirty="0" err="1">
                              <a:effectLst/>
                            </a:rPr>
                            <a:t>Reglerparameter</a:t>
                          </a:r>
                          <a:r>
                            <a:rPr lang="de-AT" sz="1600" dirty="0">
                              <a:effectLst/>
                            </a:rPr>
                            <a:t> (schneller)</a:t>
                          </a:r>
                        </a:p>
                      </a:txBody>
                      <a:tcPr marL="36053" marR="36053" marT="18026" marB="18026" anchor="ctr">
                        <a:lnL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AEC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6965505"/>
                      </a:ext>
                    </a:extLst>
                  </a:tr>
                  <a:tr h="7327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AT" sz="1600" dirty="0">
                              <a:effectLst/>
                            </a:rPr>
                            <a:t>PI</a:t>
                          </a:r>
                        </a:p>
                      </a:txBody>
                      <a:tcPr marL="36053" marR="36053" marT="18026" marB="18026" anchor="ctr">
                        <a:lnL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AT" sz="16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r>
                                <a:rPr lang="de-AT" sz="1600" i="1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AT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0,5/</m:t>
                              </m:r>
                              <m:r>
                                <a:rPr lang="de-AT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de-AT" sz="1600" i="0" dirty="0">
                              <a:effectLst/>
                              <a:sym typeface="Wingdings" panose="05000000000000000000" pitchFamily="2" charset="2"/>
                            </a:rPr>
                            <a:t> &amp;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AT" sz="16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de-AT" sz="1600" i="1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AT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0,5⋅</m:t>
                              </m:r>
                              <m:sSub>
                                <m:sSubPr>
                                  <m:ctrlPr>
                                    <a:rPr lang="de-A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itchFamily="34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itchFamily="34" charset="0"/>
                                    </a:rPr>
                                    <m:t>∑</m:t>
                                  </m:r>
                                </m:sub>
                              </m:sSub>
                            </m:oMath>
                          </a14:m>
                          <a:r>
                            <a:rPr lang="de-AT" sz="1600" i="0" dirty="0">
                              <a:effectLst/>
                              <a:sym typeface="Wingdings" panose="05000000000000000000" pitchFamily="2" charset="2"/>
                            </a:rPr>
                            <a:t> </a:t>
                          </a:r>
                          <a:br>
                            <a:rPr lang="de-AT" sz="1600" i="0" dirty="0">
                              <a:effectLst/>
                              <a:sym typeface="Wingdings" panose="05000000000000000000" pitchFamily="2" charset="2"/>
                            </a:rPr>
                          </a:br>
                          <a:r>
                            <a:rPr lang="de-AT" sz="1600" i="0" dirty="0">
                              <a:effectLst/>
                              <a:sym typeface="Wingdings" panose="05000000000000000000" pitchFamily="2" charset="2"/>
                            </a:rPr>
                            <a:t></a:t>
                          </a:r>
                          <a:r>
                            <a:rPr lang="de-AT" sz="1600" i="1" dirty="0">
                              <a:effectLst/>
                              <a:sym typeface="Wingdings" panose="05000000000000000000" pitchFamily="2" charset="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AT" sz="16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r>
                                <a:rPr lang="de-AT" sz="1600" i="1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de-AT" sz="16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r>
                                <a:rPr lang="de-AT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 /</m:t>
                              </m:r>
                              <m:sSub>
                                <m:sSubPr>
                                  <m:ctrlP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de-AT" sz="1600" i="0" dirty="0">
                              <a:effectLst/>
                              <a:sym typeface="Wingdings" panose="05000000000000000000" pitchFamily="2" charset="2"/>
                            </a:rPr>
                            <a:t> </a:t>
                          </a:r>
                          <a:endParaRPr lang="de-AT" sz="1600" i="1" baseline="-25000" dirty="0">
                            <a:effectLst/>
                          </a:endParaRPr>
                        </a:p>
                      </a:txBody>
                      <a:tcPr marL="36053" marR="36053" marT="18026" marB="18026" anchor="ctr">
                        <a:lnL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AT" sz="16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r>
                                <a:rPr lang="de-AT" sz="1600" i="1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AT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1/</m:t>
                              </m:r>
                              <m:r>
                                <a:rPr lang="de-AT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de-AT" sz="1600" i="0" dirty="0">
                              <a:effectLst/>
                              <a:sym typeface="Wingdings" panose="05000000000000000000" pitchFamily="2" charset="2"/>
                            </a:rPr>
                            <a:t> &amp;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AT" sz="16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de-AT" sz="1600" i="1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AT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0,7⋅</m:t>
                              </m:r>
                              <m:sSub>
                                <m:sSubPr>
                                  <m:ctrlPr>
                                    <a:rPr lang="de-A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itchFamily="34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itchFamily="34" charset="0"/>
                                    </a:rPr>
                                    <m:t>∑</m:t>
                                  </m:r>
                                </m:sub>
                              </m:sSub>
                            </m:oMath>
                          </a14:m>
                          <a:r>
                            <a:rPr lang="de-AT" sz="1600" i="0" dirty="0">
                              <a:effectLst/>
                              <a:sym typeface="Wingdings" panose="05000000000000000000" pitchFamily="2" charset="2"/>
                            </a:rPr>
                            <a:t> </a:t>
                          </a:r>
                          <a:br>
                            <a:rPr lang="de-AT" sz="1600" i="0" dirty="0">
                              <a:effectLst/>
                              <a:sym typeface="Wingdings" panose="05000000000000000000" pitchFamily="2" charset="2"/>
                            </a:rPr>
                          </a:br>
                          <a:r>
                            <a:rPr lang="de-AT" sz="1600" i="0" dirty="0">
                              <a:effectLst/>
                              <a:sym typeface="Wingdings" panose="05000000000000000000" pitchFamily="2" charset="2"/>
                            </a:rPr>
                            <a:t></a:t>
                          </a:r>
                          <a:r>
                            <a:rPr lang="de-AT" sz="1600" i="1" dirty="0">
                              <a:effectLst/>
                              <a:sym typeface="Wingdings" panose="05000000000000000000" pitchFamily="2" charset="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AT" sz="16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r>
                                <a:rPr lang="de-AT" sz="1600" i="1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de-AT" sz="16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r>
                                <a:rPr lang="de-AT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 /</m:t>
                              </m:r>
                              <m:sSub>
                                <m:sSubPr>
                                  <m:ctrlP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de-AT" sz="1600" i="0" dirty="0">
                              <a:effectLst/>
                              <a:sym typeface="Wingdings" panose="05000000000000000000" pitchFamily="2" charset="2"/>
                            </a:rPr>
                            <a:t> </a:t>
                          </a:r>
                          <a:endParaRPr lang="de-AT" sz="1600" i="1" baseline="-25000" dirty="0">
                            <a:effectLst/>
                          </a:endParaRPr>
                        </a:p>
                      </a:txBody>
                      <a:tcPr marL="36053" marR="36053" marT="18026" marB="18026" anchor="ctr">
                        <a:lnL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3888284"/>
                      </a:ext>
                    </a:extLst>
                  </a:tr>
                  <a:tr h="7327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AT" sz="1600" dirty="0">
                              <a:effectLst/>
                            </a:rPr>
                            <a:t>PID</a:t>
                          </a:r>
                        </a:p>
                      </a:txBody>
                      <a:tcPr marL="36053" marR="36053" marT="18026" marB="18026" anchor="ctr">
                        <a:lnL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AT" sz="16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r>
                                <a:rPr lang="de-AT" sz="1600" i="1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AT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1/</m:t>
                              </m:r>
                              <m:r>
                                <a:rPr lang="de-AT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de-AT" sz="1600" i="0" dirty="0">
                              <a:effectLst/>
                              <a:sym typeface="Wingdings" panose="05000000000000000000" pitchFamily="2" charset="2"/>
                            </a:rPr>
                            <a:t> &amp;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AT" sz="16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de-AT" sz="1600" i="1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AT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0,66⋅</m:t>
                              </m:r>
                              <m:sSub>
                                <m:sSubPr>
                                  <m:ctrlPr>
                                    <a:rPr lang="de-A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itchFamily="34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itchFamily="34" charset="0"/>
                                    </a:rPr>
                                    <m:t>∑</m:t>
                                  </m:r>
                                </m:sub>
                              </m:sSub>
                            </m:oMath>
                          </a14:m>
                          <a:r>
                            <a:rPr lang="de-AT" sz="1600" i="0" dirty="0">
                              <a:effectLst/>
                              <a:sym typeface="Wingdings" panose="05000000000000000000" pitchFamily="2" charset="2"/>
                            </a:rPr>
                            <a:t> &amp;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AT" sz="16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a:rPr lang="de-AT" sz="1600" i="1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AT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0,167⋅</m:t>
                              </m:r>
                              <m:sSub>
                                <m:sSubPr>
                                  <m:ctrlPr>
                                    <a:rPr lang="de-A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itchFamily="34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itchFamily="34" charset="0"/>
                                    </a:rPr>
                                    <m:t>∑</m:t>
                                  </m:r>
                                </m:sub>
                              </m:sSub>
                            </m:oMath>
                          </a14:m>
                          <a:br>
                            <a:rPr lang="de-AT" sz="1600" i="0" dirty="0">
                              <a:effectLst/>
                              <a:sym typeface="Wingdings" panose="05000000000000000000" pitchFamily="2" charset="2"/>
                            </a:rPr>
                          </a:br>
                          <a:r>
                            <a:rPr lang="de-AT" sz="1600" i="0" dirty="0">
                              <a:effectLst/>
                              <a:sym typeface="Wingdings" panose="05000000000000000000" pitchFamily="2" charset="2"/>
                            </a:rPr>
                            <a:t></a:t>
                          </a:r>
                          <a:r>
                            <a:rPr lang="de-AT" sz="1600" i="1" dirty="0">
                              <a:effectLst/>
                              <a:sym typeface="Wingdings" panose="05000000000000000000" pitchFamily="2" charset="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AT" sz="16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r>
                                <a:rPr lang="de-AT" sz="1600" i="1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de-AT" sz="16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r>
                                <a:rPr lang="de-AT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 /</m:t>
                              </m:r>
                              <m:sSub>
                                <m:sSubPr>
                                  <m:ctrlP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de-AT" sz="1600" i="0" dirty="0">
                              <a:effectLst/>
                              <a:sym typeface="Wingdings" panose="05000000000000000000" pitchFamily="2" charset="2"/>
                            </a:rPr>
                            <a:t> &amp;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AT" sz="16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  <m:r>
                                <a:rPr lang="de-AT" sz="1600" i="1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de-AT" sz="16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r>
                                <a:rPr lang="de-AT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oMath>
                          </a14:m>
                          <a:endParaRPr lang="de-AT" sz="1600" i="1" baseline="-25000" dirty="0">
                            <a:effectLst/>
                          </a:endParaRPr>
                        </a:p>
                      </a:txBody>
                      <a:tcPr marL="36053" marR="36053" marT="18026" marB="18026" anchor="ctr">
                        <a:lnL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AT" sz="16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r>
                                <a:rPr lang="de-AT" sz="1600" i="1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AT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2/</m:t>
                              </m:r>
                              <m:r>
                                <a:rPr lang="de-AT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de-AT" sz="1600" i="0" dirty="0">
                              <a:effectLst/>
                              <a:sym typeface="Wingdings" panose="05000000000000000000" pitchFamily="2" charset="2"/>
                            </a:rPr>
                            <a:t> &amp;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AT" sz="16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de-AT" sz="1600" i="1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AT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0,8⋅</m:t>
                              </m:r>
                              <m:sSub>
                                <m:sSubPr>
                                  <m:ctrlPr>
                                    <a:rPr lang="de-A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itchFamily="34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itchFamily="34" charset="0"/>
                                    </a:rPr>
                                    <m:t>∑</m:t>
                                  </m:r>
                                </m:sub>
                              </m:sSub>
                            </m:oMath>
                          </a14:m>
                          <a:r>
                            <a:rPr lang="de-AT" sz="1600" i="0" dirty="0">
                              <a:effectLst/>
                              <a:sym typeface="Wingdings" panose="05000000000000000000" pitchFamily="2" charset="2"/>
                            </a:rPr>
                            <a:t> &amp;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AT" sz="16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a:rPr lang="de-AT" sz="1600" i="1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AT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0,194⋅</m:t>
                              </m:r>
                              <m:sSub>
                                <m:sSubPr>
                                  <m:ctrlPr>
                                    <a:rPr lang="de-A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itchFamily="34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itchFamily="34" charset="0"/>
                                    </a:rPr>
                                    <m:t>∑</m:t>
                                  </m:r>
                                </m:sub>
                              </m:sSub>
                            </m:oMath>
                          </a14:m>
                          <a:br>
                            <a:rPr lang="de-AT" sz="1600" i="0" dirty="0">
                              <a:effectLst/>
                              <a:sym typeface="Wingdings" panose="05000000000000000000" pitchFamily="2" charset="2"/>
                            </a:rPr>
                          </a:br>
                          <a:r>
                            <a:rPr lang="de-AT" sz="1600" i="0" dirty="0">
                              <a:effectLst/>
                              <a:sym typeface="Wingdings" panose="05000000000000000000" pitchFamily="2" charset="2"/>
                            </a:rPr>
                            <a:t></a:t>
                          </a:r>
                          <a:r>
                            <a:rPr lang="de-AT" sz="1600" i="1" dirty="0">
                              <a:effectLst/>
                              <a:sym typeface="Wingdings" panose="05000000000000000000" pitchFamily="2" charset="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AT" sz="16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r>
                                <a:rPr lang="de-AT" sz="1600" i="1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de-AT" sz="16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r>
                                <a:rPr lang="de-AT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 /</m:t>
                              </m:r>
                              <m:sSub>
                                <m:sSubPr>
                                  <m:ctrlP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de-AT" sz="1600" i="0" dirty="0">
                              <a:effectLst/>
                              <a:sym typeface="Wingdings" panose="05000000000000000000" pitchFamily="2" charset="2"/>
                            </a:rPr>
                            <a:t> &amp;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AT" sz="16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  <m:r>
                                <a:rPr lang="de-AT" sz="1600" i="1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de-AT" sz="16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r>
                                <a:rPr lang="de-AT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de-AT" sz="16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oMath>
                          </a14:m>
                          <a:endParaRPr lang="de-AT" sz="1600" i="1" baseline="-25000" dirty="0">
                            <a:effectLst/>
                          </a:endParaRPr>
                        </a:p>
                      </a:txBody>
                      <a:tcPr marL="36053" marR="36053" marT="18026" marB="18026" anchor="ctr">
                        <a:lnL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35427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elle 14">
                <a:extLst>
                  <a:ext uri="{FF2B5EF4-FFF2-40B4-BE49-F238E27FC236}">
                    <a16:creationId xmlns:a16="http://schemas.microsoft.com/office/drawing/2014/main" id="{83D466E3-52F9-4918-871D-37ECC47E77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0495283"/>
                  </p:ext>
                </p:extLst>
              </p:nvPr>
            </p:nvGraphicFramePr>
            <p:xfrm>
              <a:off x="191694" y="4005064"/>
              <a:ext cx="8760611" cy="1884905"/>
            </p:xfrm>
            <a:graphic>
              <a:graphicData uri="http://schemas.openxmlformats.org/drawingml/2006/table">
                <a:tbl>
                  <a:tblPr/>
                  <a:tblGrid>
                    <a:gridCol w="786658">
                      <a:extLst>
                        <a:ext uri="{9D8B030D-6E8A-4147-A177-3AD203B41FA5}">
                          <a16:colId xmlns:a16="http://schemas.microsoft.com/office/drawing/2014/main" val="1726326485"/>
                        </a:ext>
                      </a:extLst>
                    </a:gridCol>
                    <a:gridCol w="4043333">
                      <a:extLst>
                        <a:ext uri="{9D8B030D-6E8A-4147-A177-3AD203B41FA5}">
                          <a16:colId xmlns:a16="http://schemas.microsoft.com/office/drawing/2014/main" val="4267221853"/>
                        </a:ext>
                      </a:extLst>
                    </a:gridCol>
                    <a:gridCol w="3930620">
                      <a:extLst>
                        <a:ext uri="{9D8B030D-6E8A-4147-A177-3AD203B41FA5}">
                          <a16:colId xmlns:a16="http://schemas.microsoft.com/office/drawing/2014/main" val="180401152"/>
                        </a:ext>
                      </a:extLst>
                    </a:gridCol>
                  </a:tblGrid>
                  <a:tr h="4193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AT" sz="1600" dirty="0">
                              <a:effectLst/>
                            </a:rPr>
                            <a:t>Regler</a:t>
                          </a:r>
                        </a:p>
                      </a:txBody>
                      <a:tcPr marL="36053" marR="36053" marT="18026" marB="18026" anchor="ctr">
                        <a:lnL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AEC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AT" sz="1600" dirty="0" err="1">
                              <a:effectLst/>
                            </a:rPr>
                            <a:t>Reglerparameter</a:t>
                          </a:r>
                          <a:r>
                            <a:rPr lang="de-AT" sz="1600" dirty="0">
                              <a:effectLst/>
                            </a:rPr>
                            <a:t> (langsam)</a:t>
                          </a:r>
                        </a:p>
                      </a:txBody>
                      <a:tcPr marL="36053" marR="36053" marT="18026" marB="18026" anchor="ctr">
                        <a:lnL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AEC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AT" sz="1600" dirty="0" err="1">
                              <a:effectLst/>
                            </a:rPr>
                            <a:t>Reglerparameter</a:t>
                          </a:r>
                          <a:r>
                            <a:rPr lang="de-AT" sz="1600" dirty="0">
                              <a:effectLst/>
                            </a:rPr>
                            <a:t> (schneller)</a:t>
                          </a:r>
                        </a:p>
                      </a:txBody>
                      <a:tcPr marL="36053" marR="36053" marT="18026" marB="18026" anchor="ctr">
                        <a:lnL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AEC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6965505"/>
                      </a:ext>
                    </a:extLst>
                  </a:tr>
                  <a:tr h="7327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AT" sz="1600" dirty="0">
                              <a:effectLst/>
                            </a:rPr>
                            <a:t>PI</a:t>
                          </a:r>
                        </a:p>
                      </a:txBody>
                      <a:tcPr marL="36053" marR="36053" marT="18026" marB="18026" anchor="ctr">
                        <a:lnL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36053" marR="36053" marT="18026" marB="18026" anchor="ctr">
                        <a:lnL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578" t="-57025" r="-97440" b="-101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36053" marR="36053" marT="18026" marB="18026" anchor="ctr">
                        <a:lnL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3101" t="-57025" r="-310" b="-1016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3888284"/>
                      </a:ext>
                    </a:extLst>
                  </a:tr>
                  <a:tr h="7327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AT" sz="1600" dirty="0">
                              <a:effectLst/>
                            </a:rPr>
                            <a:t>PID</a:t>
                          </a:r>
                        </a:p>
                      </a:txBody>
                      <a:tcPr marL="36053" marR="36053" marT="18026" marB="18026" anchor="ctr">
                        <a:lnL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9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36053" marR="36053" marT="18026" marB="18026" anchor="ctr">
                        <a:lnL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578" t="-157025" r="-97440" b="-1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36053" marR="36053" marT="18026" marB="18026" anchor="ctr">
                        <a:lnL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A2A9B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3101" t="-157025" r="-310" b="-16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35427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Titel 1">
            <a:extLst>
              <a:ext uri="{FF2B5EF4-FFF2-40B4-BE49-F238E27FC236}">
                <a16:creationId xmlns:a16="http://schemas.microsoft.com/office/drawing/2014/main" id="{6585E170-7D12-4D79-88AD-D02FBFDC2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8208"/>
            <a:ext cx="8258204" cy="720000"/>
          </a:xfrm>
        </p:spPr>
        <p:txBody>
          <a:bodyPr>
            <a:normAutofit fontScale="90000"/>
          </a:bodyPr>
          <a:lstStyle/>
          <a:p>
            <a:r>
              <a:rPr lang="de-AT" dirty="0"/>
              <a:t>REGELN von PT1T-SYSTEMEN</a:t>
            </a:r>
            <a:br>
              <a:rPr lang="de-AT" dirty="0"/>
            </a:br>
            <a:r>
              <a:rPr lang="de-AT" dirty="0"/>
              <a:t>T-SUMMEN-REGEL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659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B3C0353F-8CF4-41CE-BA3C-63F3A6D16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836712"/>
            <a:ext cx="8258204" cy="571496"/>
          </a:xfrm>
        </p:spPr>
        <p:txBody>
          <a:bodyPr>
            <a:normAutofit/>
          </a:bodyPr>
          <a:lstStyle/>
          <a:p>
            <a:r>
              <a:rPr lang="de-AT" dirty="0"/>
              <a:t>RESULTIERENDE SIMULATION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4944"/>
            <a:ext cx="8901068" cy="227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15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B3C0353F-8CF4-41CE-BA3C-63F3A6D16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836712"/>
            <a:ext cx="8258204" cy="571496"/>
          </a:xfrm>
        </p:spPr>
        <p:txBody>
          <a:bodyPr>
            <a:normAutofit/>
          </a:bodyPr>
          <a:lstStyle/>
          <a:p>
            <a:r>
              <a:rPr lang="de-AT" dirty="0"/>
              <a:t>RESULTIERENDE SIMULATION</a:t>
            </a:r>
            <a:endParaRPr lang="de-DE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 rotWithShape="1">
          <a:blip r:embed="rId2"/>
          <a:srcRect t="1402" b="33990"/>
          <a:stretch/>
        </p:blipFill>
        <p:spPr>
          <a:xfrm>
            <a:off x="72271" y="1844824"/>
            <a:ext cx="4524375" cy="3316936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2"/>
          <a:srcRect t="68726"/>
          <a:stretch/>
        </p:blipFill>
        <p:spPr>
          <a:xfrm>
            <a:off x="4524375" y="2852936"/>
            <a:ext cx="4524375" cy="16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39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ild">
            <a:extLst>
              <a:ext uri="{FF2B5EF4-FFF2-40B4-BE49-F238E27FC236}">
                <a16:creationId xmlns:a16="http://schemas.microsoft.com/office/drawing/2014/main" id="{E1F64EB3-FA9D-4B98-9A35-C574B2F5DB5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3" b="594"/>
          <a:stretch/>
        </p:blipFill>
        <p:spPr bwMode="auto">
          <a:xfrm>
            <a:off x="539552" y="116632"/>
            <a:ext cx="8064896" cy="6120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1" descr="K_{p}=0{,}5\cdot K_{{p,{\mathrm  {krit}}}}">
            <a:extLst>
              <a:ext uri="{FF2B5EF4-FFF2-40B4-BE49-F238E27FC236}">
                <a16:creationId xmlns:a16="http://schemas.microsoft.com/office/drawing/2014/main" id="{2E8B0656-1CF6-4A91-8CEE-FEC307E686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95877" y="198884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/>
          </a:p>
        </p:txBody>
      </p:sp>
      <p:sp>
        <p:nvSpPr>
          <p:cNvPr id="8" name="AutoShape 2" descr="K_{p}=0{,}45\cdot K_{{p,{\mathrm  {krit}}}},T_{n}=0{,}85\cdot T_{{{\mathrm  {krit}}}}">
            <a:extLst>
              <a:ext uri="{FF2B5EF4-FFF2-40B4-BE49-F238E27FC236}">
                <a16:creationId xmlns:a16="http://schemas.microsoft.com/office/drawing/2014/main" id="{9A787B9B-42DC-4F12-B649-777B5B52F4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95877" y="198884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/>
          </a:p>
        </p:txBody>
      </p:sp>
      <p:sp>
        <p:nvSpPr>
          <p:cNvPr id="9" name="AutoShape 3" descr="K_{p}=0{,}55\cdot K_{{p,{\mathrm  {krit}}}},T_{v}=0{,}15\cdot T_{{{\mathrm  {krit}}}}">
            <a:extLst>
              <a:ext uri="{FF2B5EF4-FFF2-40B4-BE49-F238E27FC236}">
                <a16:creationId xmlns:a16="http://schemas.microsoft.com/office/drawing/2014/main" id="{09AA1EF5-3A1C-49F8-8FA3-0C17F67A62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95877" y="198884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/>
          </a:p>
        </p:txBody>
      </p:sp>
      <p:sp>
        <p:nvSpPr>
          <p:cNvPr id="10" name="AutoShape 4" descr="K_{p}=0{,}6\cdot K_{{p,{\mathrm  {krit}}}},T_{n}=0{,}5\cdot T_{{{\mathrm  {krit}}}},T_{v}=0{,}125\cdot T_{{{\mathrm  {krit}}}}">
            <a:extLst>
              <a:ext uri="{FF2B5EF4-FFF2-40B4-BE49-F238E27FC236}">
                <a16:creationId xmlns:a16="http://schemas.microsoft.com/office/drawing/2014/main" id="{7928565E-921C-48F6-9240-0C1B6EF150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95877" y="198884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/>
          </a:p>
        </p:txBody>
      </p:sp>
      <p:sp>
        <p:nvSpPr>
          <p:cNvPr id="11" name="AutoShape 5" descr="K_{p}=1/K_{s}\cdot T/T_{t}">
            <a:extLst>
              <a:ext uri="{FF2B5EF4-FFF2-40B4-BE49-F238E27FC236}">
                <a16:creationId xmlns:a16="http://schemas.microsoft.com/office/drawing/2014/main" id="{B731F1E9-9CF8-49C8-A767-F9FD6EDF40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95877" y="198884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/>
          </a:p>
        </p:txBody>
      </p:sp>
      <p:sp>
        <p:nvSpPr>
          <p:cNvPr id="12" name="AutoShape 6" descr="K_{p}=0{,}9/K_{s}\cdot T/T_{t},T_{n}=3{,}33\cdot T_{t}">
            <a:extLst>
              <a:ext uri="{FF2B5EF4-FFF2-40B4-BE49-F238E27FC236}">
                <a16:creationId xmlns:a16="http://schemas.microsoft.com/office/drawing/2014/main" id="{F9018628-6E91-4BC8-A120-7204710BFE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95877" y="198884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/>
          </a:p>
        </p:txBody>
      </p:sp>
      <p:sp>
        <p:nvSpPr>
          <p:cNvPr id="13" name="AutoShape 7" descr="K_{p}=1{,}2/K_{s}\cdot T/T_{t},T_{n}=2\cdot T_{t},T_{v}=0{,}5\cdot T_{t}">
            <a:extLst>
              <a:ext uri="{FF2B5EF4-FFF2-40B4-BE49-F238E27FC236}">
                <a16:creationId xmlns:a16="http://schemas.microsoft.com/office/drawing/2014/main" id="{517C41EB-AE27-466A-9B72-B40C76ABC4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95877" y="198884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5A6906E-6B5C-4968-B6C8-0A5182BD1C8F}"/>
              </a:ext>
            </a:extLst>
          </p:cNvPr>
          <p:cNvSpPr txBox="1"/>
          <p:nvPr/>
        </p:nvSpPr>
        <p:spPr>
          <a:xfrm>
            <a:off x="8715197" y="5898759"/>
            <a:ext cx="4288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1600" dirty="0"/>
              <a:t>[7]</a:t>
            </a:r>
          </a:p>
        </p:txBody>
      </p:sp>
      <p:sp>
        <p:nvSpPr>
          <p:cNvPr id="2" name="Freihandform: Form 1">
            <a:extLst>
              <a:ext uri="{FF2B5EF4-FFF2-40B4-BE49-F238E27FC236}">
                <a16:creationId xmlns:a16="http://schemas.microsoft.com/office/drawing/2014/main" id="{AAC11A32-1BCF-4824-91AA-ECD1BFF6544B}"/>
              </a:ext>
            </a:extLst>
          </p:cNvPr>
          <p:cNvSpPr/>
          <p:nvPr/>
        </p:nvSpPr>
        <p:spPr>
          <a:xfrm>
            <a:off x="7452320" y="4365104"/>
            <a:ext cx="985421" cy="541537"/>
          </a:xfrm>
          <a:custGeom>
            <a:avLst/>
            <a:gdLst>
              <a:gd name="connsiteX0" fmla="*/ 124287 w 985421"/>
              <a:gd name="connsiteY0" fmla="*/ 44388 h 541537"/>
              <a:gd name="connsiteX1" fmla="*/ 8878 w 985421"/>
              <a:gd name="connsiteY1" fmla="*/ 79899 h 541537"/>
              <a:gd name="connsiteX2" fmla="*/ 0 w 985421"/>
              <a:gd name="connsiteY2" fmla="*/ 106532 h 541537"/>
              <a:gd name="connsiteX3" fmla="*/ 26633 w 985421"/>
              <a:gd name="connsiteY3" fmla="*/ 337351 h 541537"/>
              <a:gd name="connsiteX4" fmla="*/ 53266 w 985421"/>
              <a:gd name="connsiteY4" fmla="*/ 390617 h 541537"/>
              <a:gd name="connsiteX5" fmla="*/ 79899 w 985421"/>
              <a:gd name="connsiteY5" fmla="*/ 408372 h 541537"/>
              <a:gd name="connsiteX6" fmla="*/ 150920 w 985421"/>
              <a:gd name="connsiteY6" fmla="*/ 443883 h 541537"/>
              <a:gd name="connsiteX7" fmla="*/ 177553 w 985421"/>
              <a:gd name="connsiteY7" fmla="*/ 452761 h 541537"/>
              <a:gd name="connsiteX8" fmla="*/ 204186 w 985421"/>
              <a:gd name="connsiteY8" fmla="*/ 461638 h 541537"/>
              <a:gd name="connsiteX9" fmla="*/ 248575 w 985421"/>
              <a:gd name="connsiteY9" fmla="*/ 488271 h 541537"/>
              <a:gd name="connsiteX10" fmla="*/ 266330 w 985421"/>
              <a:gd name="connsiteY10" fmla="*/ 506027 h 541537"/>
              <a:gd name="connsiteX11" fmla="*/ 292963 w 985421"/>
              <a:gd name="connsiteY11" fmla="*/ 514904 h 541537"/>
              <a:gd name="connsiteX12" fmla="*/ 355107 w 985421"/>
              <a:gd name="connsiteY12" fmla="*/ 532660 h 541537"/>
              <a:gd name="connsiteX13" fmla="*/ 470517 w 985421"/>
              <a:gd name="connsiteY13" fmla="*/ 523782 h 541537"/>
              <a:gd name="connsiteX14" fmla="*/ 577049 w 985421"/>
              <a:gd name="connsiteY14" fmla="*/ 532660 h 541537"/>
              <a:gd name="connsiteX15" fmla="*/ 772357 w 985421"/>
              <a:gd name="connsiteY15" fmla="*/ 541537 h 541537"/>
              <a:gd name="connsiteX16" fmla="*/ 923278 w 985421"/>
              <a:gd name="connsiteY16" fmla="*/ 532660 h 541537"/>
              <a:gd name="connsiteX17" fmla="*/ 941033 w 985421"/>
              <a:gd name="connsiteY17" fmla="*/ 514904 h 541537"/>
              <a:gd name="connsiteX18" fmla="*/ 958788 w 985421"/>
              <a:gd name="connsiteY18" fmla="*/ 461638 h 541537"/>
              <a:gd name="connsiteX19" fmla="*/ 967666 w 985421"/>
              <a:gd name="connsiteY19" fmla="*/ 435005 h 541537"/>
              <a:gd name="connsiteX20" fmla="*/ 976544 w 985421"/>
              <a:gd name="connsiteY20" fmla="*/ 408372 h 541537"/>
              <a:gd name="connsiteX21" fmla="*/ 985421 w 985421"/>
              <a:gd name="connsiteY21" fmla="*/ 381739 h 541537"/>
              <a:gd name="connsiteX22" fmla="*/ 976544 w 985421"/>
              <a:gd name="connsiteY22" fmla="*/ 221941 h 541537"/>
              <a:gd name="connsiteX23" fmla="*/ 958788 w 985421"/>
              <a:gd name="connsiteY23" fmla="*/ 168675 h 541537"/>
              <a:gd name="connsiteX24" fmla="*/ 949911 w 985421"/>
              <a:gd name="connsiteY24" fmla="*/ 142042 h 541537"/>
              <a:gd name="connsiteX25" fmla="*/ 932155 w 985421"/>
              <a:gd name="connsiteY25" fmla="*/ 124287 h 541537"/>
              <a:gd name="connsiteX26" fmla="*/ 914400 w 985421"/>
              <a:gd name="connsiteY26" fmla="*/ 97654 h 541537"/>
              <a:gd name="connsiteX27" fmla="*/ 887767 w 985421"/>
              <a:gd name="connsiteY27" fmla="*/ 88776 h 541537"/>
              <a:gd name="connsiteX28" fmla="*/ 861134 w 985421"/>
              <a:gd name="connsiteY28" fmla="*/ 71021 h 541537"/>
              <a:gd name="connsiteX29" fmla="*/ 772357 w 985421"/>
              <a:gd name="connsiteY29" fmla="*/ 53266 h 541537"/>
              <a:gd name="connsiteX30" fmla="*/ 648070 w 985421"/>
              <a:gd name="connsiteY30" fmla="*/ 44388 h 541537"/>
              <a:gd name="connsiteX31" fmla="*/ 452761 w 985421"/>
              <a:gd name="connsiteY31" fmla="*/ 35510 h 541537"/>
              <a:gd name="connsiteX32" fmla="*/ 355107 w 985421"/>
              <a:gd name="connsiteY32" fmla="*/ 8877 h 541537"/>
              <a:gd name="connsiteX33" fmla="*/ 328474 w 985421"/>
              <a:gd name="connsiteY33" fmla="*/ 0 h 541537"/>
              <a:gd name="connsiteX34" fmla="*/ 168676 w 985421"/>
              <a:gd name="connsiteY34" fmla="*/ 8877 h 541537"/>
              <a:gd name="connsiteX35" fmla="*/ 124287 w 985421"/>
              <a:gd name="connsiteY35" fmla="*/ 44388 h 541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985421" h="541537">
                <a:moveTo>
                  <a:pt x="124287" y="44388"/>
                </a:moveTo>
                <a:cubicBezTo>
                  <a:pt x="97654" y="56225"/>
                  <a:pt x="35365" y="26924"/>
                  <a:pt x="8878" y="79899"/>
                </a:cubicBezTo>
                <a:cubicBezTo>
                  <a:pt x="4693" y="88269"/>
                  <a:pt x="2959" y="97654"/>
                  <a:pt x="0" y="106532"/>
                </a:cubicBezTo>
                <a:cubicBezTo>
                  <a:pt x="9812" y="302770"/>
                  <a:pt x="-9861" y="227870"/>
                  <a:pt x="26633" y="337351"/>
                </a:cubicBezTo>
                <a:cubicBezTo>
                  <a:pt x="33853" y="359011"/>
                  <a:pt x="36058" y="373409"/>
                  <a:pt x="53266" y="390617"/>
                </a:cubicBezTo>
                <a:cubicBezTo>
                  <a:pt x="60811" y="398162"/>
                  <a:pt x="71568" y="401707"/>
                  <a:pt x="79899" y="408372"/>
                </a:cubicBezTo>
                <a:cubicBezTo>
                  <a:pt x="124171" y="443790"/>
                  <a:pt x="60011" y="413580"/>
                  <a:pt x="150920" y="443883"/>
                </a:cubicBezTo>
                <a:lnTo>
                  <a:pt x="177553" y="452761"/>
                </a:lnTo>
                <a:lnTo>
                  <a:pt x="204186" y="461638"/>
                </a:lnTo>
                <a:cubicBezTo>
                  <a:pt x="249178" y="506630"/>
                  <a:pt x="190949" y="453695"/>
                  <a:pt x="248575" y="488271"/>
                </a:cubicBezTo>
                <a:cubicBezTo>
                  <a:pt x="255752" y="492577"/>
                  <a:pt x="259153" y="501721"/>
                  <a:pt x="266330" y="506027"/>
                </a:cubicBezTo>
                <a:cubicBezTo>
                  <a:pt x="274354" y="510842"/>
                  <a:pt x="283965" y="512333"/>
                  <a:pt x="292963" y="514904"/>
                </a:cubicBezTo>
                <a:cubicBezTo>
                  <a:pt x="370968" y="537191"/>
                  <a:pt x="291271" y="511380"/>
                  <a:pt x="355107" y="532660"/>
                </a:cubicBezTo>
                <a:cubicBezTo>
                  <a:pt x="393577" y="529701"/>
                  <a:pt x="431933" y="523782"/>
                  <a:pt x="470517" y="523782"/>
                </a:cubicBezTo>
                <a:cubicBezTo>
                  <a:pt x="506151" y="523782"/>
                  <a:pt x="541477" y="530568"/>
                  <a:pt x="577049" y="532660"/>
                </a:cubicBezTo>
                <a:cubicBezTo>
                  <a:pt x="642106" y="536487"/>
                  <a:pt x="707254" y="538578"/>
                  <a:pt x="772357" y="541537"/>
                </a:cubicBezTo>
                <a:cubicBezTo>
                  <a:pt x="822664" y="538578"/>
                  <a:pt x="873501" y="540520"/>
                  <a:pt x="923278" y="532660"/>
                </a:cubicBezTo>
                <a:cubicBezTo>
                  <a:pt x="931546" y="531355"/>
                  <a:pt x="937290" y="522390"/>
                  <a:pt x="941033" y="514904"/>
                </a:cubicBezTo>
                <a:cubicBezTo>
                  <a:pt x="949403" y="498164"/>
                  <a:pt x="952870" y="479393"/>
                  <a:pt x="958788" y="461638"/>
                </a:cubicBezTo>
                <a:lnTo>
                  <a:pt x="967666" y="435005"/>
                </a:lnTo>
                <a:lnTo>
                  <a:pt x="976544" y="408372"/>
                </a:lnTo>
                <a:lnTo>
                  <a:pt x="985421" y="381739"/>
                </a:lnTo>
                <a:cubicBezTo>
                  <a:pt x="982462" y="328473"/>
                  <a:pt x="983161" y="274877"/>
                  <a:pt x="976544" y="221941"/>
                </a:cubicBezTo>
                <a:cubicBezTo>
                  <a:pt x="974223" y="203370"/>
                  <a:pt x="964706" y="186430"/>
                  <a:pt x="958788" y="168675"/>
                </a:cubicBezTo>
                <a:cubicBezTo>
                  <a:pt x="955829" y="159797"/>
                  <a:pt x="956528" y="148659"/>
                  <a:pt x="949911" y="142042"/>
                </a:cubicBezTo>
                <a:cubicBezTo>
                  <a:pt x="943992" y="136124"/>
                  <a:pt x="937384" y="130823"/>
                  <a:pt x="932155" y="124287"/>
                </a:cubicBezTo>
                <a:cubicBezTo>
                  <a:pt x="925490" y="115956"/>
                  <a:pt x="922731" y="104319"/>
                  <a:pt x="914400" y="97654"/>
                </a:cubicBezTo>
                <a:cubicBezTo>
                  <a:pt x="907093" y="91808"/>
                  <a:pt x="896137" y="92961"/>
                  <a:pt x="887767" y="88776"/>
                </a:cubicBezTo>
                <a:cubicBezTo>
                  <a:pt x="878224" y="84004"/>
                  <a:pt x="870677" y="75793"/>
                  <a:pt x="861134" y="71021"/>
                </a:cubicBezTo>
                <a:cubicBezTo>
                  <a:pt x="837545" y="59227"/>
                  <a:pt x="792570" y="55191"/>
                  <a:pt x="772357" y="53266"/>
                </a:cubicBezTo>
                <a:cubicBezTo>
                  <a:pt x="731010" y="49328"/>
                  <a:pt x="689541" y="46692"/>
                  <a:pt x="648070" y="44388"/>
                </a:cubicBezTo>
                <a:cubicBezTo>
                  <a:pt x="583000" y="40773"/>
                  <a:pt x="517864" y="38469"/>
                  <a:pt x="452761" y="35510"/>
                </a:cubicBezTo>
                <a:cubicBezTo>
                  <a:pt x="390015" y="22962"/>
                  <a:pt x="422694" y="31406"/>
                  <a:pt x="355107" y="8877"/>
                </a:cubicBezTo>
                <a:lnTo>
                  <a:pt x="328474" y="0"/>
                </a:lnTo>
                <a:cubicBezTo>
                  <a:pt x="275208" y="2959"/>
                  <a:pt x="221612" y="2260"/>
                  <a:pt x="168676" y="8877"/>
                </a:cubicBezTo>
                <a:cubicBezTo>
                  <a:pt x="142219" y="12184"/>
                  <a:pt x="150920" y="32551"/>
                  <a:pt x="124287" y="44388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AD1B8F7B-D455-45EC-A560-FD03C9F81165}"/>
              </a:ext>
            </a:extLst>
          </p:cNvPr>
          <p:cNvSpPr/>
          <p:nvPr/>
        </p:nvSpPr>
        <p:spPr>
          <a:xfrm>
            <a:off x="7288566" y="4846025"/>
            <a:ext cx="1315881" cy="594803"/>
          </a:xfrm>
          <a:custGeom>
            <a:avLst/>
            <a:gdLst>
              <a:gd name="connsiteX0" fmla="*/ 337351 w 1296140"/>
              <a:gd name="connsiteY0" fmla="*/ 1183 h 649253"/>
              <a:gd name="connsiteX1" fmla="*/ 213064 w 1296140"/>
              <a:gd name="connsiteY1" fmla="*/ 10060 h 649253"/>
              <a:gd name="connsiteX2" fmla="*/ 186431 w 1296140"/>
              <a:gd name="connsiteY2" fmla="*/ 18938 h 649253"/>
              <a:gd name="connsiteX3" fmla="*/ 62144 w 1296140"/>
              <a:gd name="connsiteY3" fmla="*/ 36693 h 649253"/>
              <a:gd name="connsiteX4" fmla="*/ 35511 w 1296140"/>
              <a:gd name="connsiteY4" fmla="*/ 45571 h 649253"/>
              <a:gd name="connsiteX5" fmla="*/ 0 w 1296140"/>
              <a:gd name="connsiteY5" fmla="*/ 81082 h 649253"/>
              <a:gd name="connsiteX6" fmla="*/ 8878 w 1296140"/>
              <a:gd name="connsiteY6" fmla="*/ 160981 h 649253"/>
              <a:gd name="connsiteX7" fmla="*/ 17755 w 1296140"/>
              <a:gd name="connsiteY7" fmla="*/ 187614 h 649253"/>
              <a:gd name="connsiteX8" fmla="*/ 44388 w 1296140"/>
              <a:gd name="connsiteY8" fmla="*/ 205369 h 649253"/>
              <a:gd name="connsiteX9" fmla="*/ 97654 w 1296140"/>
              <a:gd name="connsiteY9" fmla="*/ 223125 h 649253"/>
              <a:gd name="connsiteX10" fmla="*/ 328474 w 1296140"/>
              <a:gd name="connsiteY10" fmla="*/ 240880 h 649253"/>
              <a:gd name="connsiteX11" fmla="*/ 381740 w 1296140"/>
              <a:gd name="connsiteY11" fmla="*/ 258635 h 649253"/>
              <a:gd name="connsiteX12" fmla="*/ 408373 w 1296140"/>
              <a:gd name="connsiteY12" fmla="*/ 267513 h 649253"/>
              <a:gd name="connsiteX13" fmla="*/ 417250 w 1296140"/>
              <a:gd name="connsiteY13" fmla="*/ 338534 h 649253"/>
              <a:gd name="connsiteX14" fmla="*/ 426128 w 1296140"/>
              <a:gd name="connsiteY14" fmla="*/ 453944 h 649253"/>
              <a:gd name="connsiteX15" fmla="*/ 470516 w 1296140"/>
              <a:gd name="connsiteY15" fmla="*/ 533843 h 649253"/>
              <a:gd name="connsiteX16" fmla="*/ 506027 w 1296140"/>
              <a:gd name="connsiteY16" fmla="*/ 569354 h 649253"/>
              <a:gd name="connsiteX17" fmla="*/ 523783 w 1296140"/>
              <a:gd name="connsiteY17" fmla="*/ 587109 h 649253"/>
              <a:gd name="connsiteX18" fmla="*/ 763480 w 1296140"/>
              <a:gd name="connsiteY18" fmla="*/ 613742 h 649253"/>
              <a:gd name="connsiteX19" fmla="*/ 870012 w 1296140"/>
              <a:gd name="connsiteY19" fmla="*/ 631497 h 649253"/>
              <a:gd name="connsiteX20" fmla="*/ 896645 w 1296140"/>
              <a:gd name="connsiteY20" fmla="*/ 640375 h 649253"/>
              <a:gd name="connsiteX21" fmla="*/ 1038687 w 1296140"/>
              <a:gd name="connsiteY21" fmla="*/ 649253 h 649253"/>
              <a:gd name="connsiteX22" fmla="*/ 1251751 w 1296140"/>
              <a:gd name="connsiteY22" fmla="*/ 640375 h 649253"/>
              <a:gd name="connsiteX23" fmla="*/ 1278384 w 1296140"/>
              <a:gd name="connsiteY23" fmla="*/ 631497 h 649253"/>
              <a:gd name="connsiteX24" fmla="*/ 1296140 w 1296140"/>
              <a:gd name="connsiteY24" fmla="*/ 578231 h 649253"/>
              <a:gd name="connsiteX25" fmla="*/ 1278384 w 1296140"/>
              <a:gd name="connsiteY25" fmla="*/ 294146 h 649253"/>
              <a:gd name="connsiteX26" fmla="*/ 1269507 w 1296140"/>
              <a:gd name="connsiteY26" fmla="*/ 267513 h 649253"/>
              <a:gd name="connsiteX27" fmla="*/ 1251751 w 1296140"/>
              <a:gd name="connsiteY27" fmla="*/ 187614 h 649253"/>
              <a:gd name="connsiteX28" fmla="*/ 1233996 w 1296140"/>
              <a:gd name="connsiteY28" fmla="*/ 134348 h 649253"/>
              <a:gd name="connsiteX29" fmla="*/ 1225118 w 1296140"/>
              <a:gd name="connsiteY29" fmla="*/ 107715 h 649253"/>
              <a:gd name="connsiteX30" fmla="*/ 1189608 w 1296140"/>
              <a:gd name="connsiteY30" fmla="*/ 63326 h 649253"/>
              <a:gd name="connsiteX31" fmla="*/ 1091953 w 1296140"/>
              <a:gd name="connsiteY31" fmla="*/ 72204 h 649253"/>
              <a:gd name="connsiteX32" fmla="*/ 798990 w 1296140"/>
              <a:gd name="connsiteY32" fmla="*/ 54449 h 649253"/>
              <a:gd name="connsiteX33" fmla="*/ 763480 w 1296140"/>
              <a:gd name="connsiteY33" fmla="*/ 45571 h 649253"/>
              <a:gd name="connsiteX34" fmla="*/ 736847 w 1296140"/>
              <a:gd name="connsiteY34" fmla="*/ 36693 h 649253"/>
              <a:gd name="connsiteX35" fmla="*/ 408373 w 1296140"/>
              <a:gd name="connsiteY35" fmla="*/ 18938 h 649253"/>
              <a:gd name="connsiteX36" fmla="*/ 372862 w 1296140"/>
              <a:gd name="connsiteY36" fmla="*/ 10060 h 649253"/>
              <a:gd name="connsiteX37" fmla="*/ 346229 w 1296140"/>
              <a:gd name="connsiteY37" fmla="*/ 1183 h 649253"/>
              <a:gd name="connsiteX38" fmla="*/ 337351 w 1296140"/>
              <a:gd name="connsiteY38" fmla="*/ 1183 h 649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296140" h="649253">
                <a:moveTo>
                  <a:pt x="337351" y="1183"/>
                </a:moveTo>
                <a:cubicBezTo>
                  <a:pt x="315157" y="2663"/>
                  <a:pt x="254314" y="5207"/>
                  <a:pt x="213064" y="10060"/>
                </a:cubicBezTo>
                <a:cubicBezTo>
                  <a:pt x="203770" y="11153"/>
                  <a:pt x="195647" y="17312"/>
                  <a:pt x="186431" y="18938"/>
                </a:cubicBezTo>
                <a:cubicBezTo>
                  <a:pt x="145218" y="26211"/>
                  <a:pt x="62144" y="36693"/>
                  <a:pt x="62144" y="36693"/>
                </a:cubicBezTo>
                <a:cubicBezTo>
                  <a:pt x="53266" y="39652"/>
                  <a:pt x="43126" y="40132"/>
                  <a:pt x="35511" y="45571"/>
                </a:cubicBezTo>
                <a:cubicBezTo>
                  <a:pt x="21889" y="55301"/>
                  <a:pt x="0" y="81082"/>
                  <a:pt x="0" y="81082"/>
                </a:cubicBezTo>
                <a:cubicBezTo>
                  <a:pt x="2959" y="107715"/>
                  <a:pt x="4473" y="134549"/>
                  <a:pt x="8878" y="160981"/>
                </a:cubicBezTo>
                <a:cubicBezTo>
                  <a:pt x="10416" y="170211"/>
                  <a:pt x="11909" y="180307"/>
                  <a:pt x="17755" y="187614"/>
                </a:cubicBezTo>
                <a:cubicBezTo>
                  <a:pt x="24420" y="195946"/>
                  <a:pt x="34638" y="201036"/>
                  <a:pt x="44388" y="205369"/>
                </a:cubicBezTo>
                <a:cubicBezTo>
                  <a:pt x="61491" y="212970"/>
                  <a:pt x="79899" y="217207"/>
                  <a:pt x="97654" y="223125"/>
                </a:cubicBezTo>
                <a:cubicBezTo>
                  <a:pt x="188910" y="253544"/>
                  <a:pt x="114995" y="231598"/>
                  <a:pt x="328474" y="240880"/>
                </a:cubicBezTo>
                <a:lnTo>
                  <a:pt x="381740" y="258635"/>
                </a:lnTo>
                <a:lnTo>
                  <a:pt x="408373" y="267513"/>
                </a:lnTo>
                <a:cubicBezTo>
                  <a:pt x="442255" y="318337"/>
                  <a:pt x="417250" y="267227"/>
                  <a:pt x="417250" y="338534"/>
                </a:cubicBezTo>
                <a:cubicBezTo>
                  <a:pt x="417250" y="377118"/>
                  <a:pt x="421342" y="415658"/>
                  <a:pt x="426128" y="453944"/>
                </a:cubicBezTo>
                <a:cubicBezTo>
                  <a:pt x="429318" y="479459"/>
                  <a:pt x="458175" y="521502"/>
                  <a:pt x="470516" y="533843"/>
                </a:cubicBezTo>
                <a:lnTo>
                  <a:pt x="506027" y="569354"/>
                </a:lnTo>
                <a:cubicBezTo>
                  <a:pt x="511946" y="575272"/>
                  <a:pt x="515842" y="584462"/>
                  <a:pt x="523783" y="587109"/>
                </a:cubicBezTo>
                <a:cubicBezTo>
                  <a:pt x="636071" y="624537"/>
                  <a:pt x="558354" y="603974"/>
                  <a:pt x="763480" y="613742"/>
                </a:cubicBezTo>
                <a:cubicBezTo>
                  <a:pt x="798991" y="619660"/>
                  <a:pt x="835859" y="620112"/>
                  <a:pt x="870012" y="631497"/>
                </a:cubicBezTo>
                <a:cubicBezTo>
                  <a:pt x="878890" y="634456"/>
                  <a:pt x="887339" y="639395"/>
                  <a:pt x="896645" y="640375"/>
                </a:cubicBezTo>
                <a:cubicBezTo>
                  <a:pt x="943824" y="645341"/>
                  <a:pt x="991340" y="646294"/>
                  <a:pt x="1038687" y="649253"/>
                </a:cubicBezTo>
                <a:cubicBezTo>
                  <a:pt x="1109708" y="646294"/>
                  <a:pt x="1180862" y="645626"/>
                  <a:pt x="1251751" y="640375"/>
                </a:cubicBezTo>
                <a:cubicBezTo>
                  <a:pt x="1261083" y="639684"/>
                  <a:pt x="1272945" y="639112"/>
                  <a:pt x="1278384" y="631497"/>
                </a:cubicBezTo>
                <a:cubicBezTo>
                  <a:pt x="1289262" y="616267"/>
                  <a:pt x="1296140" y="578231"/>
                  <a:pt x="1296140" y="578231"/>
                </a:cubicBezTo>
                <a:cubicBezTo>
                  <a:pt x="1293392" y="512292"/>
                  <a:pt x="1293688" y="378320"/>
                  <a:pt x="1278384" y="294146"/>
                </a:cubicBezTo>
                <a:cubicBezTo>
                  <a:pt x="1276710" y="284939"/>
                  <a:pt x="1271777" y="276591"/>
                  <a:pt x="1269507" y="267513"/>
                </a:cubicBezTo>
                <a:cubicBezTo>
                  <a:pt x="1256837" y="216831"/>
                  <a:pt x="1265420" y="233179"/>
                  <a:pt x="1251751" y="187614"/>
                </a:cubicBezTo>
                <a:cubicBezTo>
                  <a:pt x="1246373" y="169688"/>
                  <a:pt x="1239914" y="152103"/>
                  <a:pt x="1233996" y="134348"/>
                </a:cubicBezTo>
                <a:cubicBezTo>
                  <a:pt x="1231037" y="125470"/>
                  <a:pt x="1231735" y="114332"/>
                  <a:pt x="1225118" y="107715"/>
                </a:cubicBezTo>
                <a:cubicBezTo>
                  <a:pt x="1199819" y="82414"/>
                  <a:pt x="1212006" y="96923"/>
                  <a:pt x="1189608" y="63326"/>
                </a:cubicBezTo>
                <a:cubicBezTo>
                  <a:pt x="1157056" y="66285"/>
                  <a:pt x="1124639" y="72204"/>
                  <a:pt x="1091953" y="72204"/>
                </a:cubicBezTo>
                <a:cubicBezTo>
                  <a:pt x="959762" y="72204"/>
                  <a:pt x="911156" y="65665"/>
                  <a:pt x="798990" y="54449"/>
                </a:cubicBezTo>
                <a:cubicBezTo>
                  <a:pt x="787153" y="51490"/>
                  <a:pt x="775212" y="48923"/>
                  <a:pt x="763480" y="45571"/>
                </a:cubicBezTo>
                <a:cubicBezTo>
                  <a:pt x="754482" y="43000"/>
                  <a:pt x="746023" y="38528"/>
                  <a:pt x="736847" y="36693"/>
                </a:cubicBezTo>
                <a:cubicBezTo>
                  <a:pt x="638233" y="16971"/>
                  <a:pt x="477156" y="21231"/>
                  <a:pt x="408373" y="18938"/>
                </a:cubicBezTo>
                <a:cubicBezTo>
                  <a:pt x="396536" y="15979"/>
                  <a:pt x="384594" y="13412"/>
                  <a:pt x="372862" y="10060"/>
                </a:cubicBezTo>
                <a:cubicBezTo>
                  <a:pt x="363864" y="7489"/>
                  <a:pt x="355493" y="2506"/>
                  <a:pt x="346229" y="1183"/>
                </a:cubicBezTo>
                <a:cubicBezTo>
                  <a:pt x="334511" y="-491"/>
                  <a:pt x="359545" y="-297"/>
                  <a:pt x="337351" y="1183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88C4C067-8520-4B80-B68D-214D93FB829B}"/>
              </a:ext>
            </a:extLst>
          </p:cNvPr>
          <p:cNvSpPr/>
          <p:nvPr/>
        </p:nvSpPr>
        <p:spPr>
          <a:xfrm>
            <a:off x="6078074" y="4429957"/>
            <a:ext cx="1379169" cy="594804"/>
          </a:xfrm>
          <a:custGeom>
            <a:avLst/>
            <a:gdLst>
              <a:gd name="connsiteX0" fmla="*/ 145173 w 1379169"/>
              <a:gd name="connsiteY0" fmla="*/ 44389 h 594804"/>
              <a:gd name="connsiteX1" fmla="*/ 74151 w 1379169"/>
              <a:gd name="connsiteY1" fmla="*/ 62144 h 594804"/>
              <a:gd name="connsiteX2" fmla="*/ 56396 w 1379169"/>
              <a:gd name="connsiteY2" fmla="*/ 88777 h 594804"/>
              <a:gd name="connsiteX3" fmla="*/ 29763 w 1379169"/>
              <a:gd name="connsiteY3" fmla="*/ 106532 h 594804"/>
              <a:gd name="connsiteX4" fmla="*/ 12008 w 1379169"/>
              <a:gd name="connsiteY4" fmla="*/ 124288 h 594804"/>
              <a:gd name="connsiteX5" fmla="*/ 12008 w 1379169"/>
              <a:gd name="connsiteY5" fmla="*/ 213064 h 594804"/>
              <a:gd name="connsiteX6" fmla="*/ 38641 w 1379169"/>
              <a:gd name="connsiteY6" fmla="*/ 221942 h 594804"/>
              <a:gd name="connsiteX7" fmla="*/ 83029 w 1379169"/>
              <a:gd name="connsiteY7" fmla="*/ 257453 h 594804"/>
              <a:gd name="connsiteX8" fmla="*/ 100784 w 1379169"/>
              <a:gd name="connsiteY8" fmla="*/ 284086 h 594804"/>
              <a:gd name="connsiteX9" fmla="*/ 118540 w 1379169"/>
              <a:gd name="connsiteY9" fmla="*/ 301841 h 594804"/>
              <a:gd name="connsiteX10" fmla="*/ 154050 w 1379169"/>
              <a:gd name="connsiteY10" fmla="*/ 337352 h 594804"/>
              <a:gd name="connsiteX11" fmla="*/ 162928 w 1379169"/>
              <a:gd name="connsiteY11" fmla="*/ 363985 h 594804"/>
              <a:gd name="connsiteX12" fmla="*/ 180683 w 1379169"/>
              <a:gd name="connsiteY12" fmla="*/ 390618 h 594804"/>
              <a:gd name="connsiteX13" fmla="*/ 198439 w 1379169"/>
              <a:gd name="connsiteY13" fmla="*/ 408373 h 594804"/>
              <a:gd name="connsiteX14" fmla="*/ 251705 w 1379169"/>
              <a:gd name="connsiteY14" fmla="*/ 479394 h 594804"/>
              <a:gd name="connsiteX15" fmla="*/ 304971 w 1379169"/>
              <a:gd name="connsiteY15" fmla="*/ 506027 h 594804"/>
              <a:gd name="connsiteX16" fmla="*/ 349359 w 1379169"/>
              <a:gd name="connsiteY16" fmla="*/ 532660 h 594804"/>
              <a:gd name="connsiteX17" fmla="*/ 367114 w 1379169"/>
              <a:gd name="connsiteY17" fmla="*/ 550416 h 594804"/>
              <a:gd name="connsiteX18" fmla="*/ 464769 w 1379169"/>
              <a:gd name="connsiteY18" fmla="*/ 577049 h 594804"/>
              <a:gd name="connsiteX19" fmla="*/ 491402 w 1379169"/>
              <a:gd name="connsiteY19" fmla="*/ 585926 h 594804"/>
              <a:gd name="connsiteX20" fmla="*/ 589056 w 1379169"/>
              <a:gd name="connsiteY20" fmla="*/ 594804 h 594804"/>
              <a:gd name="connsiteX21" fmla="*/ 810998 w 1379169"/>
              <a:gd name="connsiteY21" fmla="*/ 585926 h 594804"/>
              <a:gd name="connsiteX22" fmla="*/ 864264 w 1379169"/>
              <a:gd name="connsiteY22" fmla="*/ 568171 h 594804"/>
              <a:gd name="connsiteX23" fmla="*/ 961918 w 1379169"/>
              <a:gd name="connsiteY23" fmla="*/ 550416 h 594804"/>
              <a:gd name="connsiteX24" fmla="*/ 1095083 w 1379169"/>
              <a:gd name="connsiteY24" fmla="*/ 532660 h 594804"/>
              <a:gd name="connsiteX25" fmla="*/ 1148349 w 1379169"/>
              <a:gd name="connsiteY25" fmla="*/ 523783 h 594804"/>
              <a:gd name="connsiteX26" fmla="*/ 1174982 w 1379169"/>
              <a:gd name="connsiteY26" fmla="*/ 514905 h 594804"/>
              <a:gd name="connsiteX27" fmla="*/ 1228248 w 1379169"/>
              <a:gd name="connsiteY27" fmla="*/ 479394 h 594804"/>
              <a:gd name="connsiteX28" fmla="*/ 1254881 w 1379169"/>
              <a:gd name="connsiteY28" fmla="*/ 470517 h 594804"/>
              <a:gd name="connsiteX29" fmla="*/ 1299270 w 1379169"/>
              <a:gd name="connsiteY29" fmla="*/ 426128 h 594804"/>
              <a:gd name="connsiteX30" fmla="*/ 1334780 w 1379169"/>
              <a:gd name="connsiteY30" fmla="*/ 372862 h 594804"/>
              <a:gd name="connsiteX31" fmla="*/ 1343658 w 1379169"/>
              <a:gd name="connsiteY31" fmla="*/ 204187 h 594804"/>
              <a:gd name="connsiteX32" fmla="*/ 1352536 w 1379169"/>
              <a:gd name="connsiteY32" fmla="*/ 177554 h 594804"/>
              <a:gd name="connsiteX33" fmla="*/ 1370291 w 1379169"/>
              <a:gd name="connsiteY33" fmla="*/ 159798 h 594804"/>
              <a:gd name="connsiteX34" fmla="*/ 1379169 w 1379169"/>
              <a:gd name="connsiteY34" fmla="*/ 133165 h 594804"/>
              <a:gd name="connsiteX35" fmla="*/ 1370291 w 1379169"/>
              <a:gd name="connsiteY35" fmla="*/ 97655 h 594804"/>
              <a:gd name="connsiteX36" fmla="*/ 1228248 w 1379169"/>
              <a:gd name="connsiteY36" fmla="*/ 62144 h 594804"/>
              <a:gd name="connsiteX37" fmla="*/ 1166105 w 1379169"/>
              <a:gd name="connsiteY37" fmla="*/ 53266 h 594804"/>
              <a:gd name="connsiteX38" fmla="*/ 1121716 w 1379169"/>
              <a:gd name="connsiteY38" fmla="*/ 44389 h 594804"/>
              <a:gd name="connsiteX39" fmla="*/ 1059573 w 1379169"/>
              <a:gd name="connsiteY39" fmla="*/ 35511 h 594804"/>
              <a:gd name="connsiteX40" fmla="*/ 988551 w 1379169"/>
              <a:gd name="connsiteY40" fmla="*/ 26633 h 594804"/>
              <a:gd name="connsiteX41" fmla="*/ 917530 w 1379169"/>
              <a:gd name="connsiteY41" fmla="*/ 8878 h 594804"/>
              <a:gd name="connsiteX42" fmla="*/ 864264 w 1379169"/>
              <a:gd name="connsiteY42" fmla="*/ 0 h 594804"/>
              <a:gd name="connsiteX43" fmla="*/ 154050 w 1379169"/>
              <a:gd name="connsiteY43" fmla="*/ 8878 h 594804"/>
              <a:gd name="connsiteX44" fmla="*/ 145173 w 1379169"/>
              <a:gd name="connsiteY44" fmla="*/ 44389 h 594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379169" h="594804">
                <a:moveTo>
                  <a:pt x="145173" y="44389"/>
                </a:moveTo>
                <a:cubicBezTo>
                  <a:pt x="131857" y="53267"/>
                  <a:pt x="83252" y="54863"/>
                  <a:pt x="74151" y="62144"/>
                </a:cubicBezTo>
                <a:cubicBezTo>
                  <a:pt x="65820" y="68809"/>
                  <a:pt x="63941" y="81232"/>
                  <a:pt x="56396" y="88777"/>
                </a:cubicBezTo>
                <a:cubicBezTo>
                  <a:pt x="48851" y="96322"/>
                  <a:pt x="38094" y="99867"/>
                  <a:pt x="29763" y="106532"/>
                </a:cubicBezTo>
                <a:cubicBezTo>
                  <a:pt x="23227" y="111761"/>
                  <a:pt x="17926" y="118369"/>
                  <a:pt x="12008" y="124288"/>
                </a:cubicBezTo>
                <a:cubicBezTo>
                  <a:pt x="1075" y="157086"/>
                  <a:pt x="-8395" y="172259"/>
                  <a:pt x="12008" y="213064"/>
                </a:cubicBezTo>
                <a:cubicBezTo>
                  <a:pt x="16193" y="221434"/>
                  <a:pt x="29763" y="218983"/>
                  <a:pt x="38641" y="221942"/>
                </a:cubicBezTo>
                <a:cubicBezTo>
                  <a:pt x="89524" y="298268"/>
                  <a:pt x="21771" y="208446"/>
                  <a:pt x="83029" y="257453"/>
                </a:cubicBezTo>
                <a:cubicBezTo>
                  <a:pt x="91360" y="264118"/>
                  <a:pt x="94119" y="275755"/>
                  <a:pt x="100784" y="284086"/>
                </a:cubicBezTo>
                <a:cubicBezTo>
                  <a:pt x="106013" y="290622"/>
                  <a:pt x="112621" y="295923"/>
                  <a:pt x="118540" y="301841"/>
                </a:cubicBezTo>
                <a:cubicBezTo>
                  <a:pt x="142211" y="372860"/>
                  <a:pt x="106704" y="290006"/>
                  <a:pt x="154050" y="337352"/>
                </a:cubicBezTo>
                <a:cubicBezTo>
                  <a:pt x="160667" y="343969"/>
                  <a:pt x="158743" y="355615"/>
                  <a:pt x="162928" y="363985"/>
                </a:cubicBezTo>
                <a:cubicBezTo>
                  <a:pt x="167700" y="373528"/>
                  <a:pt x="174018" y="382287"/>
                  <a:pt x="180683" y="390618"/>
                </a:cubicBezTo>
                <a:cubicBezTo>
                  <a:pt x="185912" y="397154"/>
                  <a:pt x="193417" y="401677"/>
                  <a:pt x="198439" y="408373"/>
                </a:cubicBezTo>
                <a:cubicBezTo>
                  <a:pt x="202049" y="413187"/>
                  <a:pt x="233193" y="468287"/>
                  <a:pt x="251705" y="479394"/>
                </a:cubicBezTo>
                <a:cubicBezTo>
                  <a:pt x="317330" y="518769"/>
                  <a:pt x="237635" y="452157"/>
                  <a:pt x="304971" y="506027"/>
                </a:cubicBezTo>
                <a:cubicBezTo>
                  <a:pt x="339789" y="533882"/>
                  <a:pt x="303106" y="517244"/>
                  <a:pt x="349359" y="532660"/>
                </a:cubicBezTo>
                <a:cubicBezTo>
                  <a:pt x="355277" y="538579"/>
                  <a:pt x="359628" y="546673"/>
                  <a:pt x="367114" y="550416"/>
                </a:cubicBezTo>
                <a:cubicBezTo>
                  <a:pt x="405199" y="569459"/>
                  <a:pt x="425808" y="567309"/>
                  <a:pt x="464769" y="577049"/>
                </a:cubicBezTo>
                <a:cubicBezTo>
                  <a:pt x="473847" y="579319"/>
                  <a:pt x="482138" y="584603"/>
                  <a:pt x="491402" y="585926"/>
                </a:cubicBezTo>
                <a:cubicBezTo>
                  <a:pt x="523759" y="590548"/>
                  <a:pt x="556505" y="591845"/>
                  <a:pt x="589056" y="594804"/>
                </a:cubicBezTo>
                <a:cubicBezTo>
                  <a:pt x="663037" y="591845"/>
                  <a:pt x="737302" y="593058"/>
                  <a:pt x="810998" y="585926"/>
                </a:cubicBezTo>
                <a:cubicBezTo>
                  <a:pt x="829627" y="584123"/>
                  <a:pt x="846107" y="572710"/>
                  <a:pt x="864264" y="568171"/>
                </a:cubicBezTo>
                <a:cubicBezTo>
                  <a:pt x="920075" y="554218"/>
                  <a:pt x="887696" y="561018"/>
                  <a:pt x="961918" y="550416"/>
                </a:cubicBezTo>
                <a:cubicBezTo>
                  <a:pt x="1026158" y="529002"/>
                  <a:pt x="964747" y="547142"/>
                  <a:pt x="1095083" y="532660"/>
                </a:cubicBezTo>
                <a:cubicBezTo>
                  <a:pt x="1112973" y="530672"/>
                  <a:pt x="1130594" y="526742"/>
                  <a:pt x="1148349" y="523783"/>
                </a:cubicBezTo>
                <a:cubicBezTo>
                  <a:pt x="1157227" y="520824"/>
                  <a:pt x="1166802" y="519450"/>
                  <a:pt x="1174982" y="514905"/>
                </a:cubicBezTo>
                <a:cubicBezTo>
                  <a:pt x="1193636" y="504542"/>
                  <a:pt x="1208004" y="486142"/>
                  <a:pt x="1228248" y="479394"/>
                </a:cubicBezTo>
                <a:lnTo>
                  <a:pt x="1254881" y="470517"/>
                </a:lnTo>
                <a:cubicBezTo>
                  <a:pt x="1269677" y="455721"/>
                  <a:pt x="1287663" y="443539"/>
                  <a:pt x="1299270" y="426128"/>
                </a:cubicBezTo>
                <a:lnTo>
                  <a:pt x="1334780" y="372862"/>
                </a:lnTo>
                <a:cubicBezTo>
                  <a:pt x="1337739" y="316637"/>
                  <a:pt x="1338560" y="260259"/>
                  <a:pt x="1343658" y="204187"/>
                </a:cubicBezTo>
                <a:cubicBezTo>
                  <a:pt x="1344505" y="194868"/>
                  <a:pt x="1347721" y="185578"/>
                  <a:pt x="1352536" y="177554"/>
                </a:cubicBezTo>
                <a:cubicBezTo>
                  <a:pt x="1356842" y="170377"/>
                  <a:pt x="1364373" y="165717"/>
                  <a:pt x="1370291" y="159798"/>
                </a:cubicBezTo>
                <a:cubicBezTo>
                  <a:pt x="1373250" y="150920"/>
                  <a:pt x="1379169" y="142523"/>
                  <a:pt x="1379169" y="133165"/>
                </a:cubicBezTo>
                <a:cubicBezTo>
                  <a:pt x="1379169" y="120964"/>
                  <a:pt x="1375097" y="108869"/>
                  <a:pt x="1370291" y="97655"/>
                </a:cubicBezTo>
                <a:cubicBezTo>
                  <a:pt x="1344526" y="37536"/>
                  <a:pt x="1304674" y="67603"/>
                  <a:pt x="1228248" y="62144"/>
                </a:cubicBezTo>
                <a:cubicBezTo>
                  <a:pt x="1207534" y="59185"/>
                  <a:pt x="1186745" y="56706"/>
                  <a:pt x="1166105" y="53266"/>
                </a:cubicBezTo>
                <a:cubicBezTo>
                  <a:pt x="1151221" y="50785"/>
                  <a:pt x="1136600" y="46870"/>
                  <a:pt x="1121716" y="44389"/>
                </a:cubicBezTo>
                <a:cubicBezTo>
                  <a:pt x="1101076" y="40949"/>
                  <a:pt x="1080314" y="38277"/>
                  <a:pt x="1059573" y="35511"/>
                </a:cubicBezTo>
                <a:cubicBezTo>
                  <a:pt x="1035924" y="32358"/>
                  <a:pt x="1012001" y="31030"/>
                  <a:pt x="988551" y="26633"/>
                </a:cubicBezTo>
                <a:cubicBezTo>
                  <a:pt x="964567" y="22136"/>
                  <a:pt x="941600" y="12890"/>
                  <a:pt x="917530" y="8878"/>
                </a:cubicBezTo>
                <a:lnTo>
                  <a:pt x="864264" y="0"/>
                </a:lnTo>
                <a:cubicBezTo>
                  <a:pt x="627526" y="2959"/>
                  <a:pt x="390652" y="326"/>
                  <a:pt x="154050" y="8878"/>
                </a:cubicBezTo>
                <a:cubicBezTo>
                  <a:pt x="143387" y="9263"/>
                  <a:pt x="158489" y="35511"/>
                  <a:pt x="145173" y="44389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32E40384-5297-4AFD-9518-C4B14CD5419D}"/>
              </a:ext>
            </a:extLst>
          </p:cNvPr>
          <p:cNvSpPr/>
          <p:nvPr/>
        </p:nvSpPr>
        <p:spPr>
          <a:xfrm rot="19556733">
            <a:off x="4932715" y="1386966"/>
            <a:ext cx="739813" cy="668040"/>
          </a:xfrm>
          <a:custGeom>
            <a:avLst/>
            <a:gdLst>
              <a:gd name="connsiteX0" fmla="*/ 17755 w 1092177"/>
              <a:gd name="connsiteY0" fmla="*/ 257452 h 798990"/>
              <a:gd name="connsiteX1" fmla="*/ 26633 w 1092177"/>
              <a:gd name="connsiteY1" fmla="*/ 168675 h 798990"/>
              <a:gd name="connsiteX2" fmla="*/ 35511 w 1092177"/>
              <a:gd name="connsiteY2" fmla="*/ 142042 h 798990"/>
              <a:gd name="connsiteX3" fmla="*/ 62144 w 1092177"/>
              <a:gd name="connsiteY3" fmla="*/ 115409 h 798990"/>
              <a:gd name="connsiteX4" fmla="*/ 97655 w 1092177"/>
              <a:gd name="connsiteY4" fmla="*/ 71021 h 798990"/>
              <a:gd name="connsiteX5" fmla="*/ 115410 w 1092177"/>
              <a:gd name="connsiteY5" fmla="*/ 44388 h 798990"/>
              <a:gd name="connsiteX6" fmla="*/ 142043 w 1092177"/>
              <a:gd name="connsiteY6" fmla="*/ 26633 h 798990"/>
              <a:gd name="connsiteX7" fmla="*/ 186431 w 1092177"/>
              <a:gd name="connsiteY7" fmla="*/ 0 h 798990"/>
              <a:gd name="connsiteX8" fmla="*/ 381740 w 1092177"/>
              <a:gd name="connsiteY8" fmla="*/ 8877 h 798990"/>
              <a:gd name="connsiteX9" fmla="*/ 435006 w 1092177"/>
              <a:gd name="connsiteY9" fmla="*/ 26633 h 798990"/>
              <a:gd name="connsiteX10" fmla="*/ 470517 w 1092177"/>
              <a:gd name="connsiteY10" fmla="*/ 62143 h 798990"/>
              <a:gd name="connsiteX11" fmla="*/ 488272 w 1092177"/>
              <a:gd name="connsiteY11" fmla="*/ 79899 h 798990"/>
              <a:gd name="connsiteX12" fmla="*/ 577049 w 1092177"/>
              <a:gd name="connsiteY12" fmla="*/ 106532 h 798990"/>
              <a:gd name="connsiteX13" fmla="*/ 603682 w 1092177"/>
              <a:gd name="connsiteY13" fmla="*/ 115409 h 798990"/>
              <a:gd name="connsiteX14" fmla="*/ 674703 w 1092177"/>
              <a:gd name="connsiteY14" fmla="*/ 150920 h 798990"/>
              <a:gd name="connsiteX15" fmla="*/ 701336 w 1092177"/>
              <a:gd name="connsiteY15" fmla="*/ 159798 h 798990"/>
              <a:gd name="connsiteX16" fmla="*/ 727969 w 1092177"/>
              <a:gd name="connsiteY16" fmla="*/ 168675 h 798990"/>
              <a:gd name="connsiteX17" fmla="*/ 790113 w 1092177"/>
              <a:gd name="connsiteY17" fmla="*/ 221941 h 798990"/>
              <a:gd name="connsiteX18" fmla="*/ 807868 w 1092177"/>
              <a:gd name="connsiteY18" fmla="*/ 239697 h 798990"/>
              <a:gd name="connsiteX19" fmla="*/ 834501 w 1092177"/>
              <a:gd name="connsiteY19" fmla="*/ 248574 h 798990"/>
              <a:gd name="connsiteX20" fmla="*/ 896645 w 1092177"/>
              <a:gd name="connsiteY20" fmla="*/ 301840 h 798990"/>
              <a:gd name="connsiteX21" fmla="*/ 949911 w 1092177"/>
              <a:gd name="connsiteY21" fmla="*/ 319596 h 798990"/>
              <a:gd name="connsiteX22" fmla="*/ 976544 w 1092177"/>
              <a:gd name="connsiteY22" fmla="*/ 328473 h 798990"/>
              <a:gd name="connsiteX23" fmla="*/ 1056443 w 1092177"/>
              <a:gd name="connsiteY23" fmla="*/ 337351 h 798990"/>
              <a:gd name="connsiteX24" fmla="*/ 1083076 w 1092177"/>
              <a:gd name="connsiteY24" fmla="*/ 346229 h 798990"/>
              <a:gd name="connsiteX25" fmla="*/ 1083076 w 1092177"/>
              <a:gd name="connsiteY25" fmla="*/ 443883 h 798990"/>
              <a:gd name="connsiteX26" fmla="*/ 1074198 w 1092177"/>
              <a:gd name="connsiteY26" fmla="*/ 470516 h 798990"/>
              <a:gd name="connsiteX27" fmla="*/ 1047565 w 1092177"/>
              <a:gd name="connsiteY27" fmla="*/ 488271 h 798990"/>
              <a:gd name="connsiteX28" fmla="*/ 1029810 w 1092177"/>
              <a:gd name="connsiteY28" fmla="*/ 506027 h 798990"/>
              <a:gd name="connsiteX29" fmla="*/ 1020932 w 1092177"/>
              <a:gd name="connsiteY29" fmla="*/ 532660 h 798990"/>
              <a:gd name="connsiteX30" fmla="*/ 985422 w 1092177"/>
              <a:gd name="connsiteY30" fmla="*/ 585926 h 798990"/>
              <a:gd name="connsiteX31" fmla="*/ 958788 w 1092177"/>
              <a:gd name="connsiteY31" fmla="*/ 630314 h 798990"/>
              <a:gd name="connsiteX32" fmla="*/ 941033 w 1092177"/>
              <a:gd name="connsiteY32" fmla="*/ 692458 h 798990"/>
              <a:gd name="connsiteX33" fmla="*/ 932155 w 1092177"/>
              <a:gd name="connsiteY33" fmla="*/ 719091 h 798990"/>
              <a:gd name="connsiteX34" fmla="*/ 825623 w 1092177"/>
              <a:gd name="connsiteY34" fmla="*/ 772357 h 798990"/>
              <a:gd name="connsiteX35" fmla="*/ 772357 w 1092177"/>
              <a:gd name="connsiteY35" fmla="*/ 798990 h 798990"/>
              <a:gd name="connsiteX36" fmla="*/ 701336 w 1092177"/>
              <a:gd name="connsiteY36" fmla="*/ 790112 h 798990"/>
              <a:gd name="connsiteX37" fmla="*/ 674703 w 1092177"/>
              <a:gd name="connsiteY37" fmla="*/ 781234 h 798990"/>
              <a:gd name="connsiteX38" fmla="*/ 603682 w 1092177"/>
              <a:gd name="connsiteY38" fmla="*/ 772357 h 798990"/>
              <a:gd name="connsiteX39" fmla="*/ 550416 w 1092177"/>
              <a:gd name="connsiteY39" fmla="*/ 754601 h 798990"/>
              <a:gd name="connsiteX40" fmla="*/ 532660 w 1092177"/>
              <a:gd name="connsiteY40" fmla="*/ 701335 h 798990"/>
              <a:gd name="connsiteX41" fmla="*/ 523783 w 1092177"/>
              <a:gd name="connsiteY41" fmla="*/ 621436 h 798990"/>
              <a:gd name="connsiteX42" fmla="*/ 514905 w 1092177"/>
              <a:gd name="connsiteY42" fmla="*/ 594803 h 798990"/>
              <a:gd name="connsiteX43" fmla="*/ 461639 w 1092177"/>
              <a:gd name="connsiteY43" fmla="*/ 559293 h 798990"/>
              <a:gd name="connsiteX44" fmla="*/ 435006 w 1092177"/>
              <a:gd name="connsiteY44" fmla="*/ 541537 h 798990"/>
              <a:gd name="connsiteX45" fmla="*/ 355107 w 1092177"/>
              <a:gd name="connsiteY45" fmla="*/ 514904 h 798990"/>
              <a:gd name="connsiteX46" fmla="*/ 328474 w 1092177"/>
              <a:gd name="connsiteY46" fmla="*/ 506027 h 798990"/>
              <a:gd name="connsiteX47" fmla="*/ 301841 w 1092177"/>
              <a:gd name="connsiteY47" fmla="*/ 497149 h 798990"/>
              <a:gd name="connsiteX48" fmla="*/ 195309 w 1092177"/>
              <a:gd name="connsiteY48" fmla="*/ 488271 h 798990"/>
              <a:gd name="connsiteX49" fmla="*/ 168676 w 1092177"/>
              <a:gd name="connsiteY49" fmla="*/ 479394 h 798990"/>
              <a:gd name="connsiteX50" fmla="*/ 133165 w 1092177"/>
              <a:gd name="connsiteY50" fmla="*/ 470516 h 798990"/>
              <a:gd name="connsiteX51" fmla="*/ 79899 w 1092177"/>
              <a:gd name="connsiteY51" fmla="*/ 452761 h 798990"/>
              <a:gd name="connsiteX52" fmla="*/ 26633 w 1092177"/>
              <a:gd name="connsiteY52" fmla="*/ 390617 h 798990"/>
              <a:gd name="connsiteX53" fmla="*/ 8878 w 1092177"/>
              <a:gd name="connsiteY53" fmla="*/ 337351 h 798990"/>
              <a:gd name="connsiteX54" fmla="*/ 0 w 1092177"/>
              <a:gd name="connsiteY54" fmla="*/ 310718 h 798990"/>
              <a:gd name="connsiteX55" fmla="*/ 17755 w 1092177"/>
              <a:gd name="connsiteY55" fmla="*/ 257452 h 798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092177" h="798990">
                <a:moveTo>
                  <a:pt x="17755" y="257452"/>
                </a:moveTo>
                <a:cubicBezTo>
                  <a:pt x="20714" y="227860"/>
                  <a:pt x="22111" y="198069"/>
                  <a:pt x="26633" y="168675"/>
                </a:cubicBezTo>
                <a:cubicBezTo>
                  <a:pt x="28056" y="159426"/>
                  <a:pt x="30320" y="149828"/>
                  <a:pt x="35511" y="142042"/>
                </a:cubicBezTo>
                <a:cubicBezTo>
                  <a:pt x="42475" y="131596"/>
                  <a:pt x="53266" y="124287"/>
                  <a:pt x="62144" y="115409"/>
                </a:cubicBezTo>
                <a:cubicBezTo>
                  <a:pt x="79428" y="63559"/>
                  <a:pt x="57499" y="111177"/>
                  <a:pt x="97655" y="71021"/>
                </a:cubicBezTo>
                <a:cubicBezTo>
                  <a:pt x="105200" y="63476"/>
                  <a:pt x="107865" y="51933"/>
                  <a:pt x="115410" y="44388"/>
                </a:cubicBezTo>
                <a:cubicBezTo>
                  <a:pt x="122955" y="36843"/>
                  <a:pt x="133712" y="33298"/>
                  <a:pt x="142043" y="26633"/>
                </a:cubicBezTo>
                <a:cubicBezTo>
                  <a:pt x="176861" y="-1222"/>
                  <a:pt x="140178" y="15416"/>
                  <a:pt x="186431" y="0"/>
                </a:cubicBezTo>
                <a:cubicBezTo>
                  <a:pt x="251534" y="2959"/>
                  <a:pt x="316941" y="1934"/>
                  <a:pt x="381740" y="8877"/>
                </a:cubicBezTo>
                <a:cubicBezTo>
                  <a:pt x="400349" y="10871"/>
                  <a:pt x="435006" y="26633"/>
                  <a:pt x="435006" y="26633"/>
                </a:cubicBezTo>
                <a:cubicBezTo>
                  <a:pt x="450790" y="73982"/>
                  <a:pt x="431060" y="38469"/>
                  <a:pt x="470517" y="62143"/>
                </a:cubicBezTo>
                <a:cubicBezTo>
                  <a:pt x="477694" y="66449"/>
                  <a:pt x="480786" y="76156"/>
                  <a:pt x="488272" y="79899"/>
                </a:cubicBezTo>
                <a:cubicBezTo>
                  <a:pt x="516394" y="93960"/>
                  <a:pt x="547319" y="98038"/>
                  <a:pt x="577049" y="106532"/>
                </a:cubicBezTo>
                <a:cubicBezTo>
                  <a:pt x="586047" y="109103"/>
                  <a:pt x="594804" y="112450"/>
                  <a:pt x="603682" y="115409"/>
                </a:cubicBezTo>
                <a:cubicBezTo>
                  <a:pt x="634671" y="146400"/>
                  <a:pt x="613496" y="130518"/>
                  <a:pt x="674703" y="150920"/>
                </a:cubicBezTo>
                <a:lnTo>
                  <a:pt x="701336" y="159798"/>
                </a:lnTo>
                <a:lnTo>
                  <a:pt x="727969" y="168675"/>
                </a:lnTo>
                <a:cubicBezTo>
                  <a:pt x="813462" y="254168"/>
                  <a:pt x="722503" y="167852"/>
                  <a:pt x="790113" y="221941"/>
                </a:cubicBezTo>
                <a:cubicBezTo>
                  <a:pt x="796649" y="227170"/>
                  <a:pt x="800691" y="235391"/>
                  <a:pt x="807868" y="239697"/>
                </a:cubicBezTo>
                <a:cubicBezTo>
                  <a:pt x="815892" y="244512"/>
                  <a:pt x="825623" y="245615"/>
                  <a:pt x="834501" y="248574"/>
                </a:cubicBezTo>
                <a:cubicBezTo>
                  <a:pt x="852103" y="266176"/>
                  <a:pt x="872307" y="291023"/>
                  <a:pt x="896645" y="301840"/>
                </a:cubicBezTo>
                <a:cubicBezTo>
                  <a:pt x="913748" y="309441"/>
                  <a:pt x="932156" y="313678"/>
                  <a:pt x="949911" y="319596"/>
                </a:cubicBezTo>
                <a:cubicBezTo>
                  <a:pt x="958789" y="322555"/>
                  <a:pt x="967243" y="327440"/>
                  <a:pt x="976544" y="328473"/>
                </a:cubicBezTo>
                <a:lnTo>
                  <a:pt x="1056443" y="337351"/>
                </a:lnTo>
                <a:cubicBezTo>
                  <a:pt x="1065321" y="340310"/>
                  <a:pt x="1076459" y="339612"/>
                  <a:pt x="1083076" y="346229"/>
                </a:cubicBezTo>
                <a:cubicBezTo>
                  <a:pt x="1103037" y="366190"/>
                  <a:pt x="1084093" y="438289"/>
                  <a:pt x="1083076" y="443883"/>
                </a:cubicBezTo>
                <a:cubicBezTo>
                  <a:pt x="1081402" y="453090"/>
                  <a:pt x="1080044" y="463209"/>
                  <a:pt x="1074198" y="470516"/>
                </a:cubicBezTo>
                <a:cubicBezTo>
                  <a:pt x="1067533" y="478847"/>
                  <a:pt x="1055896" y="481606"/>
                  <a:pt x="1047565" y="488271"/>
                </a:cubicBezTo>
                <a:cubicBezTo>
                  <a:pt x="1041029" y="493500"/>
                  <a:pt x="1035728" y="500108"/>
                  <a:pt x="1029810" y="506027"/>
                </a:cubicBezTo>
                <a:cubicBezTo>
                  <a:pt x="1026851" y="514905"/>
                  <a:pt x="1025477" y="524480"/>
                  <a:pt x="1020932" y="532660"/>
                </a:cubicBezTo>
                <a:cubicBezTo>
                  <a:pt x="1010569" y="551314"/>
                  <a:pt x="992170" y="565682"/>
                  <a:pt x="985422" y="585926"/>
                </a:cubicBezTo>
                <a:cubicBezTo>
                  <a:pt x="973897" y="620499"/>
                  <a:pt x="983161" y="605942"/>
                  <a:pt x="958788" y="630314"/>
                </a:cubicBezTo>
                <a:cubicBezTo>
                  <a:pt x="937497" y="694191"/>
                  <a:pt x="963336" y="614400"/>
                  <a:pt x="941033" y="692458"/>
                </a:cubicBezTo>
                <a:cubicBezTo>
                  <a:pt x="938462" y="701456"/>
                  <a:pt x="938772" y="712474"/>
                  <a:pt x="932155" y="719091"/>
                </a:cubicBezTo>
                <a:cubicBezTo>
                  <a:pt x="848347" y="802898"/>
                  <a:pt x="912262" y="714599"/>
                  <a:pt x="825623" y="772357"/>
                </a:cubicBezTo>
                <a:cubicBezTo>
                  <a:pt x="791204" y="795303"/>
                  <a:pt x="809112" y="786738"/>
                  <a:pt x="772357" y="798990"/>
                </a:cubicBezTo>
                <a:cubicBezTo>
                  <a:pt x="748683" y="796031"/>
                  <a:pt x="724809" y="794380"/>
                  <a:pt x="701336" y="790112"/>
                </a:cubicBezTo>
                <a:cubicBezTo>
                  <a:pt x="692129" y="788438"/>
                  <a:pt x="683910" y="782908"/>
                  <a:pt x="674703" y="781234"/>
                </a:cubicBezTo>
                <a:cubicBezTo>
                  <a:pt x="651230" y="776966"/>
                  <a:pt x="627356" y="775316"/>
                  <a:pt x="603682" y="772357"/>
                </a:cubicBezTo>
                <a:cubicBezTo>
                  <a:pt x="585927" y="766438"/>
                  <a:pt x="556335" y="772356"/>
                  <a:pt x="550416" y="754601"/>
                </a:cubicBezTo>
                <a:lnTo>
                  <a:pt x="532660" y="701335"/>
                </a:lnTo>
                <a:cubicBezTo>
                  <a:pt x="529701" y="674702"/>
                  <a:pt x="528188" y="647868"/>
                  <a:pt x="523783" y="621436"/>
                </a:cubicBezTo>
                <a:cubicBezTo>
                  <a:pt x="522245" y="612205"/>
                  <a:pt x="521522" y="601420"/>
                  <a:pt x="514905" y="594803"/>
                </a:cubicBezTo>
                <a:cubicBezTo>
                  <a:pt x="499816" y="579714"/>
                  <a:pt x="479394" y="571130"/>
                  <a:pt x="461639" y="559293"/>
                </a:cubicBezTo>
                <a:cubicBezTo>
                  <a:pt x="452761" y="553374"/>
                  <a:pt x="445128" y="544911"/>
                  <a:pt x="435006" y="541537"/>
                </a:cubicBezTo>
                <a:lnTo>
                  <a:pt x="355107" y="514904"/>
                </a:lnTo>
                <a:lnTo>
                  <a:pt x="328474" y="506027"/>
                </a:lnTo>
                <a:cubicBezTo>
                  <a:pt x="319596" y="503068"/>
                  <a:pt x="311167" y="497926"/>
                  <a:pt x="301841" y="497149"/>
                </a:cubicBezTo>
                <a:lnTo>
                  <a:pt x="195309" y="488271"/>
                </a:lnTo>
                <a:cubicBezTo>
                  <a:pt x="186431" y="485312"/>
                  <a:pt x="177674" y="481965"/>
                  <a:pt x="168676" y="479394"/>
                </a:cubicBezTo>
                <a:cubicBezTo>
                  <a:pt x="156944" y="476042"/>
                  <a:pt x="144852" y="474022"/>
                  <a:pt x="133165" y="470516"/>
                </a:cubicBezTo>
                <a:cubicBezTo>
                  <a:pt x="115239" y="465138"/>
                  <a:pt x="79899" y="452761"/>
                  <a:pt x="79899" y="452761"/>
                </a:cubicBezTo>
                <a:cubicBezTo>
                  <a:pt x="62298" y="435160"/>
                  <a:pt x="37449" y="414955"/>
                  <a:pt x="26633" y="390617"/>
                </a:cubicBezTo>
                <a:cubicBezTo>
                  <a:pt x="19032" y="373514"/>
                  <a:pt x="14796" y="355106"/>
                  <a:pt x="8878" y="337351"/>
                </a:cubicBezTo>
                <a:cubicBezTo>
                  <a:pt x="5919" y="328473"/>
                  <a:pt x="0" y="320076"/>
                  <a:pt x="0" y="310718"/>
                </a:cubicBezTo>
                <a:lnTo>
                  <a:pt x="17755" y="257452"/>
                </a:lnTo>
                <a:close/>
              </a:path>
            </a:pathLst>
          </a:cu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347FF543-87DA-4FCB-A406-81DC49A7BBA5}"/>
              </a:ext>
            </a:extLst>
          </p:cNvPr>
          <p:cNvSpPr/>
          <p:nvPr/>
        </p:nvSpPr>
        <p:spPr>
          <a:xfrm>
            <a:off x="3018408" y="1367161"/>
            <a:ext cx="887767" cy="857283"/>
          </a:xfrm>
          <a:custGeom>
            <a:avLst/>
            <a:gdLst>
              <a:gd name="connsiteX0" fmla="*/ 319596 w 887767"/>
              <a:gd name="connsiteY0" fmla="*/ 62144 h 857283"/>
              <a:gd name="connsiteX1" fmla="*/ 230819 w 887767"/>
              <a:gd name="connsiteY1" fmla="*/ 88777 h 857283"/>
              <a:gd name="connsiteX2" fmla="*/ 213064 w 887767"/>
              <a:gd name="connsiteY2" fmla="*/ 142043 h 857283"/>
              <a:gd name="connsiteX3" fmla="*/ 150920 w 887767"/>
              <a:gd name="connsiteY3" fmla="*/ 213064 h 857283"/>
              <a:gd name="connsiteX4" fmla="*/ 124287 w 887767"/>
              <a:gd name="connsiteY4" fmla="*/ 221942 h 857283"/>
              <a:gd name="connsiteX5" fmla="*/ 97654 w 887767"/>
              <a:gd name="connsiteY5" fmla="*/ 310719 h 857283"/>
              <a:gd name="connsiteX6" fmla="*/ 88776 w 887767"/>
              <a:gd name="connsiteY6" fmla="*/ 337352 h 857283"/>
              <a:gd name="connsiteX7" fmla="*/ 53266 w 887767"/>
              <a:gd name="connsiteY7" fmla="*/ 390618 h 857283"/>
              <a:gd name="connsiteX8" fmla="*/ 35510 w 887767"/>
              <a:gd name="connsiteY8" fmla="*/ 408373 h 857283"/>
              <a:gd name="connsiteX9" fmla="*/ 17755 w 887767"/>
              <a:gd name="connsiteY9" fmla="*/ 435006 h 857283"/>
              <a:gd name="connsiteX10" fmla="*/ 0 w 887767"/>
              <a:gd name="connsiteY10" fmla="*/ 488272 h 857283"/>
              <a:gd name="connsiteX11" fmla="*/ 17755 w 887767"/>
              <a:gd name="connsiteY11" fmla="*/ 630315 h 857283"/>
              <a:gd name="connsiteX12" fmla="*/ 35510 w 887767"/>
              <a:gd name="connsiteY12" fmla="*/ 683581 h 857283"/>
              <a:gd name="connsiteX13" fmla="*/ 53266 w 887767"/>
              <a:gd name="connsiteY13" fmla="*/ 701336 h 857283"/>
              <a:gd name="connsiteX14" fmla="*/ 97654 w 887767"/>
              <a:gd name="connsiteY14" fmla="*/ 763480 h 857283"/>
              <a:gd name="connsiteX15" fmla="*/ 133165 w 887767"/>
              <a:gd name="connsiteY15" fmla="*/ 807868 h 857283"/>
              <a:gd name="connsiteX16" fmla="*/ 301841 w 887767"/>
              <a:gd name="connsiteY16" fmla="*/ 834501 h 857283"/>
              <a:gd name="connsiteX17" fmla="*/ 328474 w 887767"/>
              <a:gd name="connsiteY17" fmla="*/ 843379 h 857283"/>
              <a:gd name="connsiteX18" fmla="*/ 745724 w 887767"/>
              <a:gd name="connsiteY18" fmla="*/ 843379 h 857283"/>
              <a:gd name="connsiteX19" fmla="*/ 781235 w 887767"/>
              <a:gd name="connsiteY19" fmla="*/ 807868 h 857283"/>
              <a:gd name="connsiteX20" fmla="*/ 816745 w 887767"/>
              <a:gd name="connsiteY20" fmla="*/ 754602 h 857283"/>
              <a:gd name="connsiteX21" fmla="*/ 852256 w 887767"/>
              <a:gd name="connsiteY21" fmla="*/ 719091 h 857283"/>
              <a:gd name="connsiteX22" fmla="*/ 870011 w 887767"/>
              <a:gd name="connsiteY22" fmla="*/ 665825 h 857283"/>
              <a:gd name="connsiteX23" fmla="*/ 887767 w 887767"/>
              <a:gd name="connsiteY23" fmla="*/ 506027 h 857283"/>
              <a:gd name="connsiteX24" fmla="*/ 870011 w 887767"/>
              <a:gd name="connsiteY24" fmla="*/ 381740 h 857283"/>
              <a:gd name="connsiteX25" fmla="*/ 834501 w 887767"/>
              <a:gd name="connsiteY25" fmla="*/ 328474 h 857283"/>
              <a:gd name="connsiteX26" fmla="*/ 798990 w 887767"/>
              <a:gd name="connsiteY26" fmla="*/ 292963 h 857283"/>
              <a:gd name="connsiteX27" fmla="*/ 790112 w 887767"/>
              <a:gd name="connsiteY27" fmla="*/ 266330 h 857283"/>
              <a:gd name="connsiteX28" fmla="*/ 772357 w 887767"/>
              <a:gd name="connsiteY28" fmla="*/ 239697 h 857283"/>
              <a:gd name="connsiteX29" fmla="*/ 763479 w 887767"/>
              <a:gd name="connsiteY29" fmla="*/ 159798 h 857283"/>
              <a:gd name="connsiteX30" fmla="*/ 745724 w 887767"/>
              <a:gd name="connsiteY30" fmla="*/ 106532 h 857283"/>
              <a:gd name="connsiteX31" fmla="*/ 719091 w 887767"/>
              <a:gd name="connsiteY31" fmla="*/ 97655 h 857283"/>
              <a:gd name="connsiteX32" fmla="*/ 701336 w 887767"/>
              <a:gd name="connsiteY32" fmla="*/ 79899 h 857283"/>
              <a:gd name="connsiteX33" fmla="*/ 674703 w 887767"/>
              <a:gd name="connsiteY33" fmla="*/ 71022 h 857283"/>
              <a:gd name="connsiteX34" fmla="*/ 639192 w 887767"/>
              <a:gd name="connsiteY34" fmla="*/ 35511 h 857283"/>
              <a:gd name="connsiteX35" fmla="*/ 621437 w 887767"/>
              <a:gd name="connsiteY35" fmla="*/ 8878 h 857283"/>
              <a:gd name="connsiteX36" fmla="*/ 594804 w 887767"/>
              <a:gd name="connsiteY36" fmla="*/ 0 h 857283"/>
              <a:gd name="connsiteX37" fmla="*/ 479394 w 887767"/>
              <a:gd name="connsiteY37" fmla="*/ 8878 h 857283"/>
              <a:gd name="connsiteX38" fmla="*/ 399495 w 887767"/>
              <a:gd name="connsiteY38" fmla="*/ 35511 h 857283"/>
              <a:gd name="connsiteX39" fmla="*/ 346229 w 887767"/>
              <a:gd name="connsiteY39" fmla="*/ 53266 h 857283"/>
              <a:gd name="connsiteX40" fmla="*/ 319596 w 887767"/>
              <a:gd name="connsiteY40" fmla="*/ 62144 h 857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887767" h="857283">
                <a:moveTo>
                  <a:pt x="319596" y="62144"/>
                </a:moveTo>
                <a:cubicBezTo>
                  <a:pt x="302218" y="64627"/>
                  <a:pt x="246651" y="63445"/>
                  <a:pt x="230819" y="88777"/>
                </a:cubicBezTo>
                <a:cubicBezTo>
                  <a:pt x="220900" y="104648"/>
                  <a:pt x="223446" y="126471"/>
                  <a:pt x="213064" y="142043"/>
                </a:cubicBezTo>
                <a:cubicBezTo>
                  <a:pt x="186430" y="181994"/>
                  <a:pt x="187911" y="194569"/>
                  <a:pt x="150920" y="213064"/>
                </a:cubicBezTo>
                <a:cubicBezTo>
                  <a:pt x="142550" y="217249"/>
                  <a:pt x="133165" y="218983"/>
                  <a:pt x="124287" y="221942"/>
                </a:cubicBezTo>
                <a:cubicBezTo>
                  <a:pt x="110870" y="275607"/>
                  <a:pt x="119266" y="245883"/>
                  <a:pt x="97654" y="310719"/>
                </a:cubicBezTo>
                <a:cubicBezTo>
                  <a:pt x="94695" y="319597"/>
                  <a:pt x="93967" y="329566"/>
                  <a:pt x="88776" y="337352"/>
                </a:cubicBezTo>
                <a:cubicBezTo>
                  <a:pt x="76939" y="355107"/>
                  <a:pt x="68355" y="375529"/>
                  <a:pt x="53266" y="390618"/>
                </a:cubicBezTo>
                <a:cubicBezTo>
                  <a:pt x="47347" y="396536"/>
                  <a:pt x="40739" y="401837"/>
                  <a:pt x="35510" y="408373"/>
                </a:cubicBezTo>
                <a:cubicBezTo>
                  <a:pt x="28845" y="416704"/>
                  <a:pt x="22088" y="425256"/>
                  <a:pt x="17755" y="435006"/>
                </a:cubicBezTo>
                <a:cubicBezTo>
                  <a:pt x="10154" y="452109"/>
                  <a:pt x="0" y="488272"/>
                  <a:pt x="0" y="488272"/>
                </a:cubicBezTo>
                <a:cubicBezTo>
                  <a:pt x="5955" y="559741"/>
                  <a:pt x="1582" y="576404"/>
                  <a:pt x="17755" y="630315"/>
                </a:cubicBezTo>
                <a:cubicBezTo>
                  <a:pt x="23133" y="648241"/>
                  <a:pt x="22276" y="670347"/>
                  <a:pt x="35510" y="683581"/>
                </a:cubicBezTo>
                <a:lnTo>
                  <a:pt x="53266" y="701336"/>
                </a:lnTo>
                <a:cubicBezTo>
                  <a:pt x="75286" y="767400"/>
                  <a:pt x="41484" y="679224"/>
                  <a:pt x="97654" y="763480"/>
                </a:cubicBezTo>
                <a:cubicBezTo>
                  <a:pt x="103928" y="772891"/>
                  <a:pt x="120513" y="801542"/>
                  <a:pt x="133165" y="807868"/>
                </a:cubicBezTo>
                <a:cubicBezTo>
                  <a:pt x="187632" y="835101"/>
                  <a:pt x="240756" y="829802"/>
                  <a:pt x="301841" y="834501"/>
                </a:cubicBezTo>
                <a:cubicBezTo>
                  <a:pt x="310719" y="837460"/>
                  <a:pt x="319339" y="841349"/>
                  <a:pt x="328474" y="843379"/>
                </a:cubicBezTo>
                <a:cubicBezTo>
                  <a:pt x="462478" y="873157"/>
                  <a:pt x="626526" y="846286"/>
                  <a:pt x="745724" y="843379"/>
                </a:cubicBezTo>
                <a:cubicBezTo>
                  <a:pt x="757561" y="831542"/>
                  <a:pt x="771949" y="821797"/>
                  <a:pt x="781235" y="807868"/>
                </a:cubicBezTo>
                <a:cubicBezTo>
                  <a:pt x="793072" y="790113"/>
                  <a:pt x="801656" y="769691"/>
                  <a:pt x="816745" y="754602"/>
                </a:cubicBezTo>
                <a:lnTo>
                  <a:pt x="852256" y="719091"/>
                </a:lnTo>
                <a:cubicBezTo>
                  <a:pt x="858174" y="701336"/>
                  <a:pt x="867364" y="684353"/>
                  <a:pt x="870011" y="665825"/>
                </a:cubicBezTo>
                <a:cubicBezTo>
                  <a:pt x="883512" y="571325"/>
                  <a:pt x="876995" y="624521"/>
                  <a:pt x="887767" y="506027"/>
                </a:cubicBezTo>
                <a:cubicBezTo>
                  <a:pt x="886795" y="495336"/>
                  <a:pt x="886719" y="411815"/>
                  <a:pt x="870011" y="381740"/>
                </a:cubicBezTo>
                <a:cubicBezTo>
                  <a:pt x="859648" y="363086"/>
                  <a:pt x="849590" y="343563"/>
                  <a:pt x="834501" y="328474"/>
                </a:cubicBezTo>
                <a:lnTo>
                  <a:pt x="798990" y="292963"/>
                </a:lnTo>
                <a:cubicBezTo>
                  <a:pt x="796031" y="284085"/>
                  <a:pt x="794297" y="274700"/>
                  <a:pt x="790112" y="266330"/>
                </a:cubicBezTo>
                <a:cubicBezTo>
                  <a:pt x="785340" y="256787"/>
                  <a:pt x="774945" y="250048"/>
                  <a:pt x="772357" y="239697"/>
                </a:cubicBezTo>
                <a:cubicBezTo>
                  <a:pt x="765858" y="213700"/>
                  <a:pt x="768734" y="186075"/>
                  <a:pt x="763479" y="159798"/>
                </a:cubicBezTo>
                <a:cubicBezTo>
                  <a:pt x="759809" y="141446"/>
                  <a:pt x="763479" y="112450"/>
                  <a:pt x="745724" y="106532"/>
                </a:cubicBezTo>
                <a:lnTo>
                  <a:pt x="719091" y="97655"/>
                </a:lnTo>
                <a:cubicBezTo>
                  <a:pt x="713173" y="91736"/>
                  <a:pt x="708513" y="84205"/>
                  <a:pt x="701336" y="79899"/>
                </a:cubicBezTo>
                <a:cubicBezTo>
                  <a:pt x="693312" y="75084"/>
                  <a:pt x="681320" y="77639"/>
                  <a:pt x="674703" y="71022"/>
                </a:cubicBezTo>
                <a:cubicBezTo>
                  <a:pt x="627353" y="23673"/>
                  <a:pt x="710215" y="59186"/>
                  <a:pt x="639192" y="35511"/>
                </a:cubicBezTo>
                <a:cubicBezTo>
                  <a:pt x="633274" y="26633"/>
                  <a:pt x="629768" y="15543"/>
                  <a:pt x="621437" y="8878"/>
                </a:cubicBezTo>
                <a:cubicBezTo>
                  <a:pt x="614130" y="3032"/>
                  <a:pt x="604162" y="0"/>
                  <a:pt x="594804" y="0"/>
                </a:cubicBezTo>
                <a:cubicBezTo>
                  <a:pt x="556220" y="0"/>
                  <a:pt x="517864" y="5919"/>
                  <a:pt x="479394" y="8878"/>
                </a:cubicBezTo>
                <a:cubicBezTo>
                  <a:pt x="359442" y="28871"/>
                  <a:pt x="474395" y="2223"/>
                  <a:pt x="399495" y="35511"/>
                </a:cubicBezTo>
                <a:cubicBezTo>
                  <a:pt x="382392" y="43112"/>
                  <a:pt x="362969" y="44896"/>
                  <a:pt x="346229" y="53266"/>
                </a:cubicBezTo>
                <a:lnTo>
                  <a:pt x="319596" y="62144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3" name="Freihandform: Form 22">
            <a:extLst>
              <a:ext uri="{FF2B5EF4-FFF2-40B4-BE49-F238E27FC236}">
                <a16:creationId xmlns:a16="http://schemas.microsoft.com/office/drawing/2014/main" id="{29E7C453-DEB3-40A7-9B10-C0527A15E6D8}"/>
              </a:ext>
            </a:extLst>
          </p:cNvPr>
          <p:cNvSpPr/>
          <p:nvPr/>
        </p:nvSpPr>
        <p:spPr>
          <a:xfrm>
            <a:off x="7823813" y="3905787"/>
            <a:ext cx="754650" cy="541537"/>
          </a:xfrm>
          <a:custGeom>
            <a:avLst/>
            <a:gdLst>
              <a:gd name="connsiteX0" fmla="*/ 145173 w 1379169"/>
              <a:gd name="connsiteY0" fmla="*/ 44389 h 594804"/>
              <a:gd name="connsiteX1" fmla="*/ 74151 w 1379169"/>
              <a:gd name="connsiteY1" fmla="*/ 62144 h 594804"/>
              <a:gd name="connsiteX2" fmla="*/ 56396 w 1379169"/>
              <a:gd name="connsiteY2" fmla="*/ 88777 h 594804"/>
              <a:gd name="connsiteX3" fmla="*/ 29763 w 1379169"/>
              <a:gd name="connsiteY3" fmla="*/ 106532 h 594804"/>
              <a:gd name="connsiteX4" fmla="*/ 12008 w 1379169"/>
              <a:gd name="connsiteY4" fmla="*/ 124288 h 594804"/>
              <a:gd name="connsiteX5" fmla="*/ 12008 w 1379169"/>
              <a:gd name="connsiteY5" fmla="*/ 213064 h 594804"/>
              <a:gd name="connsiteX6" fmla="*/ 38641 w 1379169"/>
              <a:gd name="connsiteY6" fmla="*/ 221942 h 594804"/>
              <a:gd name="connsiteX7" fmla="*/ 83029 w 1379169"/>
              <a:gd name="connsiteY7" fmla="*/ 257453 h 594804"/>
              <a:gd name="connsiteX8" fmla="*/ 100784 w 1379169"/>
              <a:gd name="connsiteY8" fmla="*/ 284086 h 594804"/>
              <a:gd name="connsiteX9" fmla="*/ 118540 w 1379169"/>
              <a:gd name="connsiteY9" fmla="*/ 301841 h 594804"/>
              <a:gd name="connsiteX10" fmla="*/ 154050 w 1379169"/>
              <a:gd name="connsiteY10" fmla="*/ 337352 h 594804"/>
              <a:gd name="connsiteX11" fmla="*/ 162928 w 1379169"/>
              <a:gd name="connsiteY11" fmla="*/ 363985 h 594804"/>
              <a:gd name="connsiteX12" fmla="*/ 180683 w 1379169"/>
              <a:gd name="connsiteY12" fmla="*/ 390618 h 594804"/>
              <a:gd name="connsiteX13" fmla="*/ 198439 w 1379169"/>
              <a:gd name="connsiteY13" fmla="*/ 408373 h 594804"/>
              <a:gd name="connsiteX14" fmla="*/ 251705 w 1379169"/>
              <a:gd name="connsiteY14" fmla="*/ 479394 h 594804"/>
              <a:gd name="connsiteX15" fmla="*/ 304971 w 1379169"/>
              <a:gd name="connsiteY15" fmla="*/ 506027 h 594804"/>
              <a:gd name="connsiteX16" fmla="*/ 349359 w 1379169"/>
              <a:gd name="connsiteY16" fmla="*/ 532660 h 594804"/>
              <a:gd name="connsiteX17" fmla="*/ 367114 w 1379169"/>
              <a:gd name="connsiteY17" fmla="*/ 550416 h 594804"/>
              <a:gd name="connsiteX18" fmla="*/ 464769 w 1379169"/>
              <a:gd name="connsiteY18" fmla="*/ 577049 h 594804"/>
              <a:gd name="connsiteX19" fmla="*/ 491402 w 1379169"/>
              <a:gd name="connsiteY19" fmla="*/ 585926 h 594804"/>
              <a:gd name="connsiteX20" fmla="*/ 589056 w 1379169"/>
              <a:gd name="connsiteY20" fmla="*/ 594804 h 594804"/>
              <a:gd name="connsiteX21" fmla="*/ 810998 w 1379169"/>
              <a:gd name="connsiteY21" fmla="*/ 585926 h 594804"/>
              <a:gd name="connsiteX22" fmla="*/ 864264 w 1379169"/>
              <a:gd name="connsiteY22" fmla="*/ 568171 h 594804"/>
              <a:gd name="connsiteX23" fmla="*/ 961918 w 1379169"/>
              <a:gd name="connsiteY23" fmla="*/ 550416 h 594804"/>
              <a:gd name="connsiteX24" fmla="*/ 1095083 w 1379169"/>
              <a:gd name="connsiteY24" fmla="*/ 532660 h 594804"/>
              <a:gd name="connsiteX25" fmla="*/ 1148349 w 1379169"/>
              <a:gd name="connsiteY25" fmla="*/ 523783 h 594804"/>
              <a:gd name="connsiteX26" fmla="*/ 1174982 w 1379169"/>
              <a:gd name="connsiteY26" fmla="*/ 514905 h 594804"/>
              <a:gd name="connsiteX27" fmla="*/ 1228248 w 1379169"/>
              <a:gd name="connsiteY27" fmla="*/ 479394 h 594804"/>
              <a:gd name="connsiteX28" fmla="*/ 1254881 w 1379169"/>
              <a:gd name="connsiteY28" fmla="*/ 470517 h 594804"/>
              <a:gd name="connsiteX29" fmla="*/ 1299270 w 1379169"/>
              <a:gd name="connsiteY29" fmla="*/ 426128 h 594804"/>
              <a:gd name="connsiteX30" fmla="*/ 1334780 w 1379169"/>
              <a:gd name="connsiteY30" fmla="*/ 372862 h 594804"/>
              <a:gd name="connsiteX31" fmla="*/ 1343658 w 1379169"/>
              <a:gd name="connsiteY31" fmla="*/ 204187 h 594804"/>
              <a:gd name="connsiteX32" fmla="*/ 1352536 w 1379169"/>
              <a:gd name="connsiteY32" fmla="*/ 177554 h 594804"/>
              <a:gd name="connsiteX33" fmla="*/ 1370291 w 1379169"/>
              <a:gd name="connsiteY33" fmla="*/ 159798 h 594804"/>
              <a:gd name="connsiteX34" fmla="*/ 1379169 w 1379169"/>
              <a:gd name="connsiteY34" fmla="*/ 133165 h 594804"/>
              <a:gd name="connsiteX35" fmla="*/ 1370291 w 1379169"/>
              <a:gd name="connsiteY35" fmla="*/ 97655 h 594804"/>
              <a:gd name="connsiteX36" fmla="*/ 1228248 w 1379169"/>
              <a:gd name="connsiteY36" fmla="*/ 62144 h 594804"/>
              <a:gd name="connsiteX37" fmla="*/ 1166105 w 1379169"/>
              <a:gd name="connsiteY37" fmla="*/ 53266 h 594804"/>
              <a:gd name="connsiteX38" fmla="*/ 1121716 w 1379169"/>
              <a:gd name="connsiteY38" fmla="*/ 44389 h 594804"/>
              <a:gd name="connsiteX39" fmla="*/ 1059573 w 1379169"/>
              <a:gd name="connsiteY39" fmla="*/ 35511 h 594804"/>
              <a:gd name="connsiteX40" fmla="*/ 988551 w 1379169"/>
              <a:gd name="connsiteY40" fmla="*/ 26633 h 594804"/>
              <a:gd name="connsiteX41" fmla="*/ 917530 w 1379169"/>
              <a:gd name="connsiteY41" fmla="*/ 8878 h 594804"/>
              <a:gd name="connsiteX42" fmla="*/ 864264 w 1379169"/>
              <a:gd name="connsiteY42" fmla="*/ 0 h 594804"/>
              <a:gd name="connsiteX43" fmla="*/ 154050 w 1379169"/>
              <a:gd name="connsiteY43" fmla="*/ 8878 h 594804"/>
              <a:gd name="connsiteX44" fmla="*/ 145173 w 1379169"/>
              <a:gd name="connsiteY44" fmla="*/ 44389 h 594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379169" h="594804">
                <a:moveTo>
                  <a:pt x="145173" y="44389"/>
                </a:moveTo>
                <a:cubicBezTo>
                  <a:pt x="131857" y="53267"/>
                  <a:pt x="83252" y="54863"/>
                  <a:pt x="74151" y="62144"/>
                </a:cubicBezTo>
                <a:cubicBezTo>
                  <a:pt x="65820" y="68809"/>
                  <a:pt x="63941" y="81232"/>
                  <a:pt x="56396" y="88777"/>
                </a:cubicBezTo>
                <a:cubicBezTo>
                  <a:pt x="48851" y="96322"/>
                  <a:pt x="38094" y="99867"/>
                  <a:pt x="29763" y="106532"/>
                </a:cubicBezTo>
                <a:cubicBezTo>
                  <a:pt x="23227" y="111761"/>
                  <a:pt x="17926" y="118369"/>
                  <a:pt x="12008" y="124288"/>
                </a:cubicBezTo>
                <a:cubicBezTo>
                  <a:pt x="1075" y="157086"/>
                  <a:pt x="-8395" y="172259"/>
                  <a:pt x="12008" y="213064"/>
                </a:cubicBezTo>
                <a:cubicBezTo>
                  <a:pt x="16193" y="221434"/>
                  <a:pt x="29763" y="218983"/>
                  <a:pt x="38641" y="221942"/>
                </a:cubicBezTo>
                <a:cubicBezTo>
                  <a:pt x="89524" y="298268"/>
                  <a:pt x="21771" y="208446"/>
                  <a:pt x="83029" y="257453"/>
                </a:cubicBezTo>
                <a:cubicBezTo>
                  <a:pt x="91360" y="264118"/>
                  <a:pt x="94119" y="275755"/>
                  <a:pt x="100784" y="284086"/>
                </a:cubicBezTo>
                <a:cubicBezTo>
                  <a:pt x="106013" y="290622"/>
                  <a:pt x="112621" y="295923"/>
                  <a:pt x="118540" y="301841"/>
                </a:cubicBezTo>
                <a:cubicBezTo>
                  <a:pt x="142211" y="372860"/>
                  <a:pt x="106704" y="290006"/>
                  <a:pt x="154050" y="337352"/>
                </a:cubicBezTo>
                <a:cubicBezTo>
                  <a:pt x="160667" y="343969"/>
                  <a:pt x="158743" y="355615"/>
                  <a:pt x="162928" y="363985"/>
                </a:cubicBezTo>
                <a:cubicBezTo>
                  <a:pt x="167700" y="373528"/>
                  <a:pt x="174018" y="382287"/>
                  <a:pt x="180683" y="390618"/>
                </a:cubicBezTo>
                <a:cubicBezTo>
                  <a:pt x="185912" y="397154"/>
                  <a:pt x="193417" y="401677"/>
                  <a:pt x="198439" y="408373"/>
                </a:cubicBezTo>
                <a:cubicBezTo>
                  <a:pt x="202049" y="413187"/>
                  <a:pt x="233193" y="468287"/>
                  <a:pt x="251705" y="479394"/>
                </a:cubicBezTo>
                <a:cubicBezTo>
                  <a:pt x="317330" y="518769"/>
                  <a:pt x="237635" y="452157"/>
                  <a:pt x="304971" y="506027"/>
                </a:cubicBezTo>
                <a:cubicBezTo>
                  <a:pt x="339789" y="533882"/>
                  <a:pt x="303106" y="517244"/>
                  <a:pt x="349359" y="532660"/>
                </a:cubicBezTo>
                <a:cubicBezTo>
                  <a:pt x="355277" y="538579"/>
                  <a:pt x="359628" y="546673"/>
                  <a:pt x="367114" y="550416"/>
                </a:cubicBezTo>
                <a:cubicBezTo>
                  <a:pt x="405199" y="569459"/>
                  <a:pt x="425808" y="567309"/>
                  <a:pt x="464769" y="577049"/>
                </a:cubicBezTo>
                <a:cubicBezTo>
                  <a:pt x="473847" y="579319"/>
                  <a:pt x="482138" y="584603"/>
                  <a:pt x="491402" y="585926"/>
                </a:cubicBezTo>
                <a:cubicBezTo>
                  <a:pt x="523759" y="590548"/>
                  <a:pt x="556505" y="591845"/>
                  <a:pt x="589056" y="594804"/>
                </a:cubicBezTo>
                <a:cubicBezTo>
                  <a:pt x="663037" y="591845"/>
                  <a:pt x="737302" y="593058"/>
                  <a:pt x="810998" y="585926"/>
                </a:cubicBezTo>
                <a:cubicBezTo>
                  <a:pt x="829627" y="584123"/>
                  <a:pt x="846107" y="572710"/>
                  <a:pt x="864264" y="568171"/>
                </a:cubicBezTo>
                <a:cubicBezTo>
                  <a:pt x="920075" y="554218"/>
                  <a:pt x="887696" y="561018"/>
                  <a:pt x="961918" y="550416"/>
                </a:cubicBezTo>
                <a:cubicBezTo>
                  <a:pt x="1026158" y="529002"/>
                  <a:pt x="964747" y="547142"/>
                  <a:pt x="1095083" y="532660"/>
                </a:cubicBezTo>
                <a:cubicBezTo>
                  <a:pt x="1112973" y="530672"/>
                  <a:pt x="1130594" y="526742"/>
                  <a:pt x="1148349" y="523783"/>
                </a:cubicBezTo>
                <a:cubicBezTo>
                  <a:pt x="1157227" y="520824"/>
                  <a:pt x="1166802" y="519450"/>
                  <a:pt x="1174982" y="514905"/>
                </a:cubicBezTo>
                <a:cubicBezTo>
                  <a:pt x="1193636" y="504542"/>
                  <a:pt x="1208004" y="486142"/>
                  <a:pt x="1228248" y="479394"/>
                </a:cubicBezTo>
                <a:lnTo>
                  <a:pt x="1254881" y="470517"/>
                </a:lnTo>
                <a:cubicBezTo>
                  <a:pt x="1269677" y="455721"/>
                  <a:pt x="1287663" y="443539"/>
                  <a:pt x="1299270" y="426128"/>
                </a:cubicBezTo>
                <a:lnTo>
                  <a:pt x="1334780" y="372862"/>
                </a:lnTo>
                <a:cubicBezTo>
                  <a:pt x="1337739" y="316637"/>
                  <a:pt x="1338560" y="260259"/>
                  <a:pt x="1343658" y="204187"/>
                </a:cubicBezTo>
                <a:cubicBezTo>
                  <a:pt x="1344505" y="194868"/>
                  <a:pt x="1347721" y="185578"/>
                  <a:pt x="1352536" y="177554"/>
                </a:cubicBezTo>
                <a:cubicBezTo>
                  <a:pt x="1356842" y="170377"/>
                  <a:pt x="1364373" y="165717"/>
                  <a:pt x="1370291" y="159798"/>
                </a:cubicBezTo>
                <a:cubicBezTo>
                  <a:pt x="1373250" y="150920"/>
                  <a:pt x="1379169" y="142523"/>
                  <a:pt x="1379169" y="133165"/>
                </a:cubicBezTo>
                <a:cubicBezTo>
                  <a:pt x="1379169" y="120964"/>
                  <a:pt x="1375097" y="108869"/>
                  <a:pt x="1370291" y="97655"/>
                </a:cubicBezTo>
                <a:cubicBezTo>
                  <a:pt x="1344526" y="37536"/>
                  <a:pt x="1304674" y="67603"/>
                  <a:pt x="1228248" y="62144"/>
                </a:cubicBezTo>
                <a:cubicBezTo>
                  <a:pt x="1207534" y="59185"/>
                  <a:pt x="1186745" y="56706"/>
                  <a:pt x="1166105" y="53266"/>
                </a:cubicBezTo>
                <a:cubicBezTo>
                  <a:pt x="1151221" y="50785"/>
                  <a:pt x="1136600" y="46870"/>
                  <a:pt x="1121716" y="44389"/>
                </a:cubicBezTo>
                <a:cubicBezTo>
                  <a:pt x="1101076" y="40949"/>
                  <a:pt x="1080314" y="38277"/>
                  <a:pt x="1059573" y="35511"/>
                </a:cubicBezTo>
                <a:cubicBezTo>
                  <a:pt x="1035924" y="32358"/>
                  <a:pt x="1012001" y="31030"/>
                  <a:pt x="988551" y="26633"/>
                </a:cubicBezTo>
                <a:cubicBezTo>
                  <a:pt x="964567" y="22136"/>
                  <a:pt x="941600" y="12890"/>
                  <a:pt x="917530" y="8878"/>
                </a:cubicBezTo>
                <a:lnTo>
                  <a:pt x="864264" y="0"/>
                </a:lnTo>
                <a:cubicBezTo>
                  <a:pt x="627526" y="2959"/>
                  <a:pt x="390652" y="326"/>
                  <a:pt x="154050" y="8878"/>
                </a:cubicBezTo>
                <a:cubicBezTo>
                  <a:pt x="143387" y="9263"/>
                  <a:pt x="158489" y="35511"/>
                  <a:pt x="145173" y="44389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86901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QUELLEN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08253" y="1700808"/>
            <a:ext cx="8356097" cy="3857652"/>
          </a:xfrm>
        </p:spPr>
        <p:txBody>
          <a:bodyPr>
            <a:normAutofit/>
          </a:bodyPr>
          <a:lstStyle/>
          <a:p>
            <a:r>
              <a:rPr lang="de-AT" sz="1600" dirty="0"/>
              <a:t>[1] K.-D. </a:t>
            </a:r>
            <a:r>
              <a:rPr lang="de-AT" sz="1600" dirty="0" err="1"/>
              <a:t>Tieste</a:t>
            </a:r>
            <a:r>
              <a:rPr lang="de-AT" sz="1600" dirty="0"/>
              <a:t> und O. Romberg, Keine Panik vor Regelungstechnik! </a:t>
            </a:r>
            <a:r>
              <a:rPr lang="de-AT" sz="1600" dirty="0" err="1"/>
              <a:t>Vieweg+Teubner</a:t>
            </a:r>
            <a:r>
              <a:rPr lang="de-AT" sz="1600" dirty="0"/>
              <a:t> Verlag, 2011.</a:t>
            </a:r>
          </a:p>
          <a:p>
            <a:r>
              <a:rPr lang="de-AT" sz="1600" dirty="0"/>
              <a:t>[2] A. </a:t>
            </a:r>
            <a:r>
              <a:rPr lang="de-AT" sz="1600" dirty="0" err="1"/>
              <a:t>Mehrle</a:t>
            </a:r>
            <a:r>
              <a:rPr lang="de-AT" sz="1600" dirty="0"/>
              <a:t>, Reader </a:t>
            </a:r>
            <a:r>
              <a:rPr lang="de-AT" sz="1600" dirty="0" err="1"/>
              <a:t>for</a:t>
            </a:r>
            <a:r>
              <a:rPr lang="de-AT" sz="1600" dirty="0"/>
              <a:t> </a:t>
            </a:r>
            <a:r>
              <a:rPr lang="de-AT" sz="1600" dirty="0" err="1"/>
              <a:t>the</a:t>
            </a:r>
            <a:r>
              <a:rPr lang="de-AT" sz="1600" dirty="0"/>
              <a:t> Course „Control Engineering 1 – Modeling“ MCI, 2021.</a:t>
            </a:r>
          </a:p>
          <a:p>
            <a:r>
              <a:rPr lang="de-AT" sz="1600" dirty="0">
                <a:latin typeface="Arial" pitchFamily="34" charset="0"/>
                <a:cs typeface="Arial" pitchFamily="34" charset="0"/>
              </a:rPr>
              <a:t>[3] H. Glasmachers, </a:t>
            </a:r>
            <a:r>
              <a:rPr lang="de-AT" sz="1600" dirty="0">
                <a:latin typeface="Arial" pitchFamily="34" charset="0"/>
                <a:cs typeface="Arial" pitchFamily="34" charset="0"/>
                <a:hlinkClick r:id="rId2"/>
              </a:rPr>
              <a:t>https://www.professorglasmachers.de/proportionales-verhalten/</a:t>
            </a:r>
            <a:endParaRPr lang="de-AT" sz="1600" dirty="0">
              <a:latin typeface="Arial" pitchFamily="34" charset="0"/>
              <a:cs typeface="Arial" pitchFamily="34" charset="0"/>
            </a:endParaRPr>
          </a:p>
          <a:p>
            <a:r>
              <a:rPr lang="de-AT" sz="1600" dirty="0">
                <a:latin typeface="Arial" pitchFamily="34" charset="0"/>
                <a:cs typeface="Arial" pitchFamily="34" charset="0"/>
              </a:rPr>
              <a:t>[4] </a:t>
            </a:r>
            <a:r>
              <a:rPr lang="de-AT" sz="1600" dirty="0">
                <a:latin typeface="Arial" pitchFamily="34" charset="0"/>
                <a:cs typeface="Arial" pitchFamily="34" charset="0"/>
                <a:hlinkClick r:id="rId3"/>
              </a:rPr>
              <a:t>https://www.elektronik-kompendium.de/sites/slt/0210141.htm</a:t>
            </a:r>
            <a:endParaRPr lang="de-AT" sz="1600" dirty="0">
              <a:latin typeface="Arial" pitchFamily="34" charset="0"/>
              <a:cs typeface="Arial" pitchFamily="34" charset="0"/>
            </a:endParaRPr>
          </a:p>
          <a:p>
            <a:r>
              <a:rPr lang="de-AT" sz="1600" dirty="0">
                <a:latin typeface="Arial" pitchFamily="34" charset="0"/>
                <a:cs typeface="Arial" pitchFamily="34" charset="0"/>
              </a:rPr>
              <a:t>[5] A. </a:t>
            </a:r>
            <a:r>
              <a:rPr lang="de-AT" sz="1600" dirty="0" err="1">
                <a:latin typeface="Arial" pitchFamily="34" charset="0"/>
                <a:cs typeface="Arial" pitchFamily="34" charset="0"/>
              </a:rPr>
              <a:t>Urquizo</a:t>
            </a:r>
            <a:r>
              <a:rPr lang="de-AT" sz="1600" dirty="0">
                <a:latin typeface="Arial" pitchFamily="34" charset="0"/>
                <a:cs typeface="Arial" pitchFamily="34" charset="0"/>
              </a:rPr>
              <a:t>, PID </a:t>
            </a:r>
            <a:r>
              <a:rPr lang="de-AT" sz="1600" dirty="0" err="1">
                <a:latin typeface="Arial" pitchFamily="34" charset="0"/>
                <a:cs typeface="Arial" pitchFamily="34" charset="0"/>
              </a:rPr>
              <a:t>controller</a:t>
            </a:r>
            <a:r>
              <a:rPr lang="de-AT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de-AT" sz="1600" dirty="0" err="1">
                <a:latin typeface="Arial" pitchFamily="34" charset="0"/>
                <a:cs typeface="Arial" pitchFamily="34" charset="0"/>
              </a:rPr>
              <a:t>overview</a:t>
            </a:r>
            <a:r>
              <a:rPr lang="de-AT" sz="1600" dirty="0">
                <a:latin typeface="Arial" pitchFamily="34" charset="0"/>
                <a:cs typeface="Arial" pitchFamily="34" charset="0"/>
              </a:rPr>
              <a:t>, Wikimedia Commons</a:t>
            </a:r>
          </a:p>
          <a:p>
            <a:r>
              <a:rPr lang="de-AT" sz="1600" dirty="0">
                <a:latin typeface="Arial" pitchFamily="34" charset="0"/>
                <a:cs typeface="Arial" pitchFamily="34" charset="0"/>
              </a:rPr>
              <a:t>[6] M. Krüger, </a:t>
            </a:r>
            <a:r>
              <a:rPr lang="de-AT" sz="1600" dirty="0" err="1">
                <a:latin typeface="Arial" pitchFamily="34" charset="0"/>
                <a:cs typeface="Arial" pitchFamily="34" charset="0"/>
              </a:rPr>
              <a:t>Sprunganwort</a:t>
            </a:r>
            <a:r>
              <a:rPr lang="de-AT" sz="1600" dirty="0">
                <a:latin typeface="Arial" pitchFamily="34" charset="0"/>
                <a:cs typeface="Arial" pitchFamily="34" charset="0"/>
              </a:rPr>
              <a:t> einer Regelstrecke mit Wendetangente zur Bestimmung von Tu und </a:t>
            </a:r>
            <a:r>
              <a:rPr lang="de-AT" sz="1600" dirty="0" err="1">
                <a:latin typeface="Arial" pitchFamily="34" charset="0"/>
                <a:cs typeface="Arial" pitchFamily="34" charset="0"/>
              </a:rPr>
              <a:t>Tg</a:t>
            </a:r>
            <a:r>
              <a:rPr lang="de-AT" sz="1600" dirty="0">
                <a:latin typeface="Arial" pitchFamily="34" charset="0"/>
                <a:cs typeface="Arial" pitchFamily="34" charset="0"/>
              </a:rPr>
              <a:t>, Wikimedia Commons</a:t>
            </a:r>
          </a:p>
          <a:p>
            <a:r>
              <a:rPr lang="de-AT" sz="1600" dirty="0">
                <a:latin typeface="Arial" pitchFamily="34" charset="0"/>
                <a:cs typeface="Arial" pitchFamily="34" charset="0"/>
              </a:rPr>
              <a:t>[7] B. Douglas, </a:t>
            </a:r>
            <a:r>
              <a:rPr lang="de-AT" sz="1600" dirty="0" err="1">
                <a:latin typeface="Arial" pitchFamily="34" charset="0"/>
                <a:cs typeface="Arial" pitchFamily="34" charset="0"/>
              </a:rPr>
              <a:t>Map</a:t>
            </a:r>
            <a:r>
              <a:rPr lang="de-AT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de-AT" sz="1600" dirty="0" err="1">
                <a:latin typeface="Arial" pitchFamily="34" charset="0"/>
                <a:cs typeface="Arial" pitchFamily="34" charset="0"/>
              </a:rPr>
              <a:t>of</a:t>
            </a:r>
            <a:r>
              <a:rPr lang="de-AT" sz="1600" dirty="0">
                <a:latin typeface="Arial" pitchFamily="34" charset="0"/>
                <a:cs typeface="Arial" pitchFamily="34" charset="0"/>
              </a:rPr>
              <a:t> Control Theory, Engineering Media LLC</a:t>
            </a:r>
          </a:p>
          <a:p>
            <a:r>
              <a:rPr lang="de-AT" sz="1600" dirty="0">
                <a:latin typeface="Arial" pitchFamily="34" charset="0"/>
                <a:cs typeface="Arial" pitchFamily="34" charset="0"/>
              </a:rPr>
              <a:t>[8] W. </a:t>
            </a:r>
            <a:r>
              <a:rPr lang="de-AT" sz="1600" dirty="0" err="1">
                <a:latin typeface="Arial" pitchFamily="34" charset="0"/>
                <a:cs typeface="Arial" pitchFamily="34" charset="0"/>
              </a:rPr>
              <a:t>Biezl</a:t>
            </a:r>
            <a:r>
              <a:rPr lang="de-AT" sz="1600" dirty="0">
                <a:latin typeface="Arial" pitchFamily="34" charset="0"/>
                <a:cs typeface="Arial" pitchFamily="34" charset="0"/>
              </a:rPr>
              <a:t>, PT2-Glied, Wikimedia Commons</a:t>
            </a:r>
          </a:p>
          <a:p>
            <a:r>
              <a:rPr lang="de-AT" sz="1600" dirty="0">
                <a:latin typeface="Arial" pitchFamily="34" charset="0"/>
                <a:cs typeface="Arial" pitchFamily="34" charset="0"/>
              </a:rPr>
              <a:t>[9] R.C. Dorf und R.H. Bishop, Modern Control Systems, Pearson</a:t>
            </a:r>
          </a:p>
          <a:p>
            <a:r>
              <a:rPr lang="de-AT" sz="1600" dirty="0">
                <a:latin typeface="Arial" pitchFamily="34" charset="0"/>
                <a:cs typeface="Arial" pitchFamily="34" charset="0"/>
              </a:rPr>
              <a:t>[10] M. Strohmann, Systemtheorie Online</a:t>
            </a:r>
          </a:p>
          <a:p>
            <a:r>
              <a:rPr lang="de-AT" sz="1600" dirty="0">
                <a:latin typeface="Arial" pitchFamily="34" charset="0"/>
                <a:cs typeface="Arial" pitchFamily="34" charset="0"/>
              </a:rPr>
              <a:t>[11] B. Bate, PID – Einstellregeln, FH Dortmund, 2009</a:t>
            </a:r>
          </a:p>
          <a:p>
            <a:endParaRPr lang="de-AT" sz="1600" dirty="0">
              <a:latin typeface="Arial" pitchFamily="34" charset="0"/>
              <a:cs typeface="Arial" pitchFamily="34" charset="0"/>
            </a:endParaRPr>
          </a:p>
          <a:p>
            <a:endParaRPr lang="de-AT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23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Larissa-Design">
  <a:themeElements>
    <a:clrScheme name="MCI">
      <a:dk1>
        <a:sysClr val="windowText" lastClr="000000"/>
      </a:dk1>
      <a:lt1>
        <a:sysClr val="window" lastClr="FFFFFF"/>
      </a:lt1>
      <a:dk2>
        <a:srgbClr val="004983"/>
      </a:dk2>
      <a:lt2>
        <a:srgbClr val="F49A00"/>
      </a:lt2>
      <a:accent1>
        <a:srgbClr val="5F856B"/>
      </a:accent1>
      <a:accent2>
        <a:srgbClr val="4D96BE"/>
      </a:accent2>
      <a:accent3>
        <a:srgbClr val="5D788E"/>
      </a:accent3>
      <a:accent4>
        <a:srgbClr val="6B4D6C"/>
      </a:accent4>
      <a:accent5>
        <a:srgbClr val="783F4F"/>
      </a:accent5>
      <a:accent6>
        <a:srgbClr val="CD943A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D71380D37BE2E4798CB4A6C719E3B51" ma:contentTypeVersion="0" ma:contentTypeDescription="Ein neues Dokument erstellen." ma:contentTypeScope="" ma:versionID="c1e0a821e60e4804e02f3c154dcf9e3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6c4a6dd5ef775a5269b08f7de37f93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0C9AA4-1B27-4358-B9CF-0D69DD429A7B}">
  <ds:schemaRefs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E91A56D-5013-46B9-A648-1FEE355D288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471053-2B7B-40FC-9298-E7A7EE9736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</Words>
  <Application>Microsoft Office PowerPoint</Application>
  <PresentationFormat>Bildschirmpräsentation (4:3)</PresentationFormat>
  <Paragraphs>100</Paragraphs>
  <Slides>13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Wingdings</vt:lpstr>
      <vt:lpstr>Larissa-Design</vt:lpstr>
      <vt:lpstr>REGELUNGSTECHNIK</vt:lpstr>
      <vt:lpstr>WAS HABEN WIR VOR?</vt:lpstr>
      <vt:lpstr>ERSTES BLOCK-DIAGRAMM</vt:lpstr>
      <vt:lpstr>ERSTES BLOCK-DIAGRAMM</vt:lpstr>
      <vt:lpstr>SYSTEMIDENTIFIKATION / MODELLBILDUNG</vt:lpstr>
      <vt:lpstr>SYSTEMIDENTIFIKATION / MODELLBILDUNG</vt:lpstr>
      <vt:lpstr>REGELN von PT1T-SYSTEMEN T-SUMMEN-REGEL</vt:lpstr>
      <vt:lpstr>REGELN von PT1T-SYSTEMEN T-SUMMEN-REGEL</vt:lpstr>
      <vt:lpstr>RESULTIERENDE SIMULATION</vt:lpstr>
      <vt:lpstr>RESULTIERENDE SIMULATION</vt:lpstr>
      <vt:lpstr>PowerPoint-Präsentation</vt:lpstr>
      <vt:lpstr>QUELLEN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MtP</dc:creator>
  <cp:lastModifiedBy>Matthias .....</cp:lastModifiedBy>
  <cp:revision>1451</cp:revision>
  <dcterms:created xsi:type="dcterms:W3CDTF">2009-09-03T08:03:00Z</dcterms:created>
  <dcterms:modified xsi:type="dcterms:W3CDTF">2026-05-19T06:56:12Z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0x010100AD71380D37BE2E4798CB4A6C719E3B51</vt:lpwstr>
  </property>
</Properties>
</file>